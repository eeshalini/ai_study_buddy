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6" r:id="rId1"/>
    <p:sldMasterId id="2147483667" r:id="rId2"/>
  </p:sldMasterIdLst>
  <p:notesMasterIdLst>
    <p:notesMasterId r:id="rId14"/>
  </p:notesMasterIdLst>
  <p:sldIdLst>
    <p:sldId id="256" r:id="rId3"/>
    <p:sldId id="257" r:id="rId4"/>
    <p:sldId id="258" r:id="rId5"/>
    <p:sldId id="260" r:id="rId6"/>
    <p:sldId id="261" r:id="rId7"/>
    <p:sldId id="270" r:id="rId8"/>
    <p:sldId id="262" r:id="rId9"/>
    <p:sldId id="265" r:id="rId10"/>
    <p:sldId id="267" r:id="rId11"/>
    <p:sldId id="268" r:id="rId12"/>
    <p:sldId id="269" r:id="rId1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520" y="5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26a851972a5_4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g26a851972a5_4_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g26a851972a5_4_5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26a851972a5_4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4" name="Google Shape;114;g26a851972a5_4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26a851972a5_4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g26a851972a5_4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26a851972a5_4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g26a851972a5_4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6a851972a5_4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g26a851972a5_4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55331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26a851972a5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6a851972a5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26a851972a5_4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g26a851972a5_4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6a851972a5_4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g26a851972a5_4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6a851972a5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1" name="Google Shape;211;g26a851972a5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26a851972a5_4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g26a851972a5_4_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8"/>
        <p:cNvGrpSpPr/>
        <p:nvPr/>
      </p:nvGrpSpPr>
      <p:grpSpPr>
        <a:xfrm>
          <a:off x="0" y="0"/>
          <a:ext cx="0" cy="0"/>
          <a:chOff x="0" y="0"/>
          <a:chExt cx="0" cy="0"/>
        </a:xfrm>
      </p:grpSpPr>
      <p:sp>
        <p:nvSpPr>
          <p:cNvPr id="59" name="Google Shape;59;p14"/>
          <p:cNvSpPr txBox="1">
            <a:spLocks noGrp="1"/>
          </p:cNvSpPr>
          <p:nvPr>
            <p:ph type="ctrTitle"/>
          </p:nvPr>
        </p:nvSpPr>
        <p:spPr>
          <a:xfrm>
            <a:off x="685800" y="1597819"/>
            <a:ext cx="7772400" cy="110251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C00000"/>
              </a:buClr>
              <a:buSzPts val="4000"/>
              <a:buFont typeface="Calibri"/>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4"/>
          <p:cNvSpPr txBox="1">
            <a:spLocks noGrp="1"/>
          </p:cNvSpPr>
          <p:nvPr>
            <p:ph type="subTitle" idx="1"/>
          </p:nvPr>
        </p:nvSpPr>
        <p:spPr>
          <a:xfrm>
            <a:off x="1371600" y="2914650"/>
            <a:ext cx="6400800" cy="1314450"/>
          </a:xfrm>
          <a:prstGeom prst="rect">
            <a:avLst/>
          </a:prstGeom>
          <a:noFill/>
          <a:ln>
            <a:noFill/>
          </a:ln>
        </p:spPr>
        <p:txBody>
          <a:bodyPr spcFirstLastPara="1" wrap="square" lIns="91425" tIns="45700" rIns="91425" bIns="45700" anchor="t" anchorCtr="0">
            <a:normAutofit/>
          </a:bodyPr>
          <a:lstStyle>
            <a:lvl1pPr lvl="0" algn="ctr">
              <a:spcBef>
                <a:spcPts val="440"/>
              </a:spcBef>
              <a:spcAft>
                <a:spcPts val="0"/>
              </a:spcAft>
              <a:buSzPts val="2200"/>
              <a:buNone/>
              <a:defRPr>
                <a:solidFill>
                  <a:srgbClr val="888888"/>
                </a:solidFill>
              </a:defRPr>
            </a:lvl1pPr>
            <a:lvl2pPr lvl="1" algn="ctr">
              <a:spcBef>
                <a:spcPts val="440"/>
              </a:spcBef>
              <a:spcAft>
                <a:spcPts val="0"/>
              </a:spcAft>
              <a:buSzPts val="2200"/>
              <a:buNone/>
              <a:defRPr>
                <a:solidFill>
                  <a:srgbClr val="888888"/>
                </a:solidFill>
              </a:defRPr>
            </a:lvl2pPr>
            <a:lvl3pPr lvl="2" algn="ctr">
              <a:spcBef>
                <a:spcPts val="440"/>
              </a:spcBef>
              <a:spcAft>
                <a:spcPts val="0"/>
              </a:spcAft>
              <a:buSzPts val="2200"/>
              <a:buNone/>
              <a:defRPr>
                <a:solidFill>
                  <a:srgbClr val="888888"/>
                </a:solidFill>
              </a:defRPr>
            </a:lvl3pPr>
            <a:lvl4pPr lvl="3" algn="ctr">
              <a:spcBef>
                <a:spcPts val="440"/>
              </a:spcBef>
              <a:spcAft>
                <a:spcPts val="0"/>
              </a:spcAft>
              <a:buSzPts val="2200"/>
              <a:buNone/>
              <a:defRPr>
                <a:solidFill>
                  <a:srgbClr val="888888"/>
                </a:solidFill>
              </a:defRPr>
            </a:lvl4pPr>
            <a:lvl5pPr lvl="4" algn="ctr">
              <a:spcBef>
                <a:spcPts val="440"/>
              </a:spcBef>
              <a:spcAft>
                <a:spcPts val="0"/>
              </a:spcAft>
              <a:buClr>
                <a:srgbClr val="888888"/>
              </a:buClr>
              <a:buSzPts val="22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61" name="Google Shape;61;p14"/>
          <p:cNvSpPr txBox="1">
            <a:spLocks noGrp="1"/>
          </p:cNvSpPr>
          <p:nvPr>
            <p:ph type="dt" idx="10"/>
          </p:nvPr>
        </p:nvSpPr>
        <p:spPr>
          <a:xfrm>
            <a:off x="457200" y="4767263"/>
            <a:ext cx="946448"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4"/>
          <p:cNvSpPr txBox="1">
            <a:spLocks noGrp="1"/>
          </p:cNvSpPr>
          <p:nvPr>
            <p:ph type="ftr" idx="11"/>
          </p:nvPr>
        </p:nvSpPr>
        <p:spPr>
          <a:xfrm>
            <a:off x="2627784" y="4785996"/>
            <a:ext cx="4400128"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4"/>
          <p:cNvSpPr txBox="1">
            <a:spLocks noGrp="1"/>
          </p:cNvSpPr>
          <p:nvPr>
            <p:ph type="sldNum" idx="12"/>
          </p:nvPr>
        </p:nvSpPr>
        <p:spPr>
          <a:xfrm>
            <a:off x="8172400" y="4767263"/>
            <a:ext cx="514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432128" y="116324"/>
            <a:ext cx="7919703" cy="36755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C0000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15"/>
          <p:cNvSpPr txBox="1">
            <a:spLocks noGrp="1"/>
          </p:cNvSpPr>
          <p:nvPr>
            <p:ph type="body" idx="1"/>
          </p:nvPr>
        </p:nvSpPr>
        <p:spPr>
          <a:xfrm>
            <a:off x="475129" y="777920"/>
            <a:ext cx="8229600" cy="3899687"/>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7" name="Google Shape;67;p15"/>
          <p:cNvSpPr txBox="1">
            <a:spLocks noGrp="1"/>
          </p:cNvSpPr>
          <p:nvPr>
            <p:ph type="dt" idx="10"/>
          </p:nvPr>
        </p:nvSpPr>
        <p:spPr>
          <a:xfrm>
            <a:off x="457200" y="4767263"/>
            <a:ext cx="1090464"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15"/>
          <p:cNvSpPr txBox="1">
            <a:spLocks noGrp="1"/>
          </p:cNvSpPr>
          <p:nvPr>
            <p:ph type="sldNum" idx="12"/>
          </p:nvPr>
        </p:nvSpPr>
        <p:spPr>
          <a:xfrm>
            <a:off x="7812360" y="4767263"/>
            <a:ext cx="87444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69" name="Google Shape;69;p15"/>
          <p:cNvSpPr txBox="1">
            <a:spLocks noGrp="1"/>
          </p:cNvSpPr>
          <p:nvPr>
            <p:ph type="ftr" idx="11"/>
          </p:nvPr>
        </p:nvSpPr>
        <p:spPr>
          <a:xfrm>
            <a:off x="2371936" y="4770416"/>
            <a:ext cx="4400128"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0"/>
        <p:cNvGrpSpPr/>
        <p:nvPr/>
      </p:nvGrpSpPr>
      <p:grpSpPr>
        <a:xfrm>
          <a:off x="0" y="0"/>
          <a:ext cx="0" cy="0"/>
          <a:chOff x="0" y="0"/>
          <a:chExt cx="0" cy="0"/>
        </a:xfrm>
      </p:grpSpPr>
      <p:sp>
        <p:nvSpPr>
          <p:cNvPr id="71" name="Google Shape;71;p16"/>
          <p:cNvSpPr txBox="1">
            <a:spLocks noGrp="1"/>
          </p:cNvSpPr>
          <p:nvPr>
            <p:ph type="dt" idx="10"/>
          </p:nvPr>
        </p:nvSpPr>
        <p:spPr>
          <a:xfrm>
            <a:off x="457200" y="4767263"/>
            <a:ext cx="946448"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6"/>
          <p:cNvSpPr txBox="1">
            <a:spLocks noGrp="1"/>
          </p:cNvSpPr>
          <p:nvPr>
            <p:ph type="sldNum" idx="12"/>
          </p:nvPr>
        </p:nvSpPr>
        <p:spPr>
          <a:xfrm>
            <a:off x="8172400" y="4767263"/>
            <a:ext cx="514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73" name="Google Shape;73;p16"/>
          <p:cNvSpPr txBox="1">
            <a:spLocks noGrp="1"/>
          </p:cNvSpPr>
          <p:nvPr>
            <p:ph type="ftr" idx="11"/>
          </p:nvPr>
        </p:nvSpPr>
        <p:spPr>
          <a:xfrm>
            <a:off x="2483768" y="4767263"/>
            <a:ext cx="4400128"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a:off x="432128" y="116324"/>
            <a:ext cx="7919703" cy="36755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C0000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7"/>
          <p:cNvSpPr txBox="1">
            <a:spLocks noGrp="1"/>
          </p:cNvSpPr>
          <p:nvPr>
            <p:ph type="body" idx="1"/>
          </p:nvPr>
        </p:nvSpPr>
        <p:spPr>
          <a:xfrm>
            <a:off x="457200" y="681540"/>
            <a:ext cx="4038600" cy="3394472"/>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SzPts val="2800"/>
              <a:buChar char="❑"/>
              <a:defRPr sz="2800"/>
            </a:lvl1pPr>
            <a:lvl2pPr marL="914400" lvl="1" indent="-381000" algn="l">
              <a:spcBef>
                <a:spcPts val="480"/>
              </a:spcBef>
              <a:spcAft>
                <a:spcPts val="0"/>
              </a:spcAft>
              <a:buSzPts val="2400"/>
              <a:buChar char="❑"/>
              <a:defRPr sz="2400"/>
            </a:lvl2pPr>
            <a:lvl3pPr marL="1371600" lvl="2" indent="-355600" algn="l">
              <a:spcBef>
                <a:spcPts val="400"/>
              </a:spcBef>
              <a:spcAft>
                <a:spcPts val="0"/>
              </a:spcAft>
              <a:buSzPts val="2000"/>
              <a:buChar char="❑"/>
              <a:defRPr sz="2000"/>
            </a:lvl3pPr>
            <a:lvl4pPr marL="1828800" lvl="3" indent="-342900" algn="l">
              <a:spcBef>
                <a:spcPts val="360"/>
              </a:spcBef>
              <a:spcAft>
                <a:spcPts val="0"/>
              </a:spcAft>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77" name="Google Shape;77;p17"/>
          <p:cNvSpPr txBox="1">
            <a:spLocks noGrp="1"/>
          </p:cNvSpPr>
          <p:nvPr>
            <p:ph type="body" idx="2"/>
          </p:nvPr>
        </p:nvSpPr>
        <p:spPr>
          <a:xfrm>
            <a:off x="4648200" y="681540"/>
            <a:ext cx="4038600" cy="3394472"/>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SzPts val="2800"/>
              <a:buChar char="❑"/>
              <a:defRPr sz="2800"/>
            </a:lvl1pPr>
            <a:lvl2pPr marL="914400" lvl="1" indent="-381000" algn="l">
              <a:spcBef>
                <a:spcPts val="480"/>
              </a:spcBef>
              <a:spcAft>
                <a:spcPts val="0"/>
              </a:spcAft>
              <a:buSzPts val="2400"/>
              <a:buChar char="❑"/>
              <a:defRPr sz="2400"/>
            </a:lvl2pPr>
            <a:lvl3pPr marL="1371600" lvl="2" indent="-355600" algn="l">
              <a:spcBef>
                <a:spcPts val="400"/>
              </a:spcBef>
              <a:spcAft>
                <a:spcPts val="0"/>
              </a:spcAft>
              <a:buSzPts val="2000"/>
              <a:buChar char="❑"/>
              <a:defRPr sz="2000"/>
            </a:lvl3pPr>
            <a:lvl4pPr marL="1828800" lvl="3" indent="-342900" algn="l">
              <a:spcBef>
                <a:spcPts val="360"/>
              </a:spcBef>
              <a:spcAft>
                <a:spcPts val="0"/>
              </a:spcAft>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78" name="Google Shape;78;p17"/>
          <p:cNvSpPr txBox="1">
            <a:spLocks noGrp="1"/>
          </p:cNvSpPr>
          <p:nvPr>
            <p:ph type="dt" idx="10"/>
          </p:nvPr>
        </p:nvSpPr>
        <p:spPr>
          <a:xfrm>
            <a:off x="457200" y="4767263"/>
            <a:ext cx="1090464"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7"/>
          <p:cNvSpPr txBox="1">
            <a:spLocks noGrp="1"/>
          </p:cNvSpPr>
          <p:nvPr>
            <p:ph type="sldNum" idx="12"/>
          </p:nvPr>
        </p:nvSpPr>
        <p:spPr>
          <a:xfrm>
            <a:off x="7812360" y="4767263"/>
            <a:ext cx="87444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80" name="Google Shape;80;p17"/>
          <p:cNvSpPr txBox="1">
            <a:spLocks noGrp="1"/>
          </p:cNvSpPr>
          <p:nvPr>
            <p:ph type="ftr" idx="11"/>
          </p:nvPr>
        </p:nvSpPr>
        <p:spPr>
          <a:xfrm>
            <a:off x="2371936" y="4763626"/>
            <a:ext cx="4400128"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1"/>
        <p:cNvGrpSpPr/>
        <p:nvPr/>
      </p:nvGrpSpPr>
      <p:grpSpPr>
        <a:xfrm>
          <a:off x="0" y="0"/>
          <a:ext cx="0" cy="0"/>
          <a:chOff x="0" y="0"/>
          <a:chExt cx="0" cy="0"/>
        </a:xfrm>
      </p:grpSpPr>
      <p:sp>
        <p:nvSpPr>
          <p:cNvPr id="82" name="Google Shape;82;p18"/>
          <p:cNvSpPr txBox="1">
            <a:spLocks noGrp="1"/>
          </p:cNvSpPr>
          <p:nvPr>
            <p:ph type="title"/>
          </p:nvPr>
        </p:nvSpPr>
        <p:spPr>
          <a:xfrm>
            <a:off x="432128" y="116324"/>
            <a:ext cx="7919703" cy="36755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C00000"/>
              </a:buClr>
              <a:buSzPts val="2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8"/>
          <p:cNvSpPr txBox="1">
            <a:spLocks noGrp="1"/>
          </p:cNvSpPr>
          <p:nvPr>
            <p:ph type="body" idx="1"/>
          </p:nvPr>
        </p:nvSpPr>
        <p:spPr>
          <a:xfrm>
            <a:off x="457200" y="681540"/>
            <a:ext cx="4040188" cy="479821"/>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SzPts val="2400"/>
              <a:buNone/>
              <a:defRPr sz="2400" b="1"/>
            </a:lvl1pPr>
            <a:lvl2pPr marL="914400" lvl="1" indent="-228600" algn="l">
              <a:spcBef>
                <a:spcPts val="400"/>
              </a:spcBef>
              <a:spcAft>
                <a:spcPts val="0"/>
              </a:spcAft>
              <a:buSzPts val="2000"/>
              <a:buNone/>
              <a:defRPr sz="2000" b="1"/>
            </a:lvl2pPr>
            <a:lvl3pPr marL="1371600" lvl="2" indent="-228600" algn="l">
              <a:spcBef>
                <a:spcPts val="360"/>
              </a:spcBef>
              <a:spcAft>
                <a:spcPts val="0"/>
              </a:spcAft>
              <a:buSzPts val="1800"/>
              <a:buNone/>
              <a:defRPr sz="1800" b="1"/>
            </a:lvl3pPr>
            <a:lvl4pPr marL="1828800" lvl="3" indent="-228600" algn="l">
              <a:spcBef>
                <a:spcPts val="320"/>
              </a:spcBef>
              <a:spcAft>
                <a:spcPts val="0"/>
              </a:spcAft>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84" name="Google Shape;84;p18"/>
          <p:cNvSpPr txBox="1">
            <a:spLocks noGrp="1"/>
          </p:cNvSpPr>
          <p:nvPr>
            <p:ph type="body" idx="2"/>
          </p:nvPr>
        </p:nvSpPr>
        <p:spPr>
          <a:xfrm>
            <a:off x="457200" y="1161362"/>
            <a:ext cx="4040188" cy="3354605"/>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SzPts val="2400"/>
              <a:buChar char="❑"/>
              <a:defRPr sz="2400"/>
            </a:lvl1pPr>
            <a:lvl2pPr marL="914400" lvl="1" indent="-355600" algn="l">
              <a:spcBef>
                <a:spcPts val="400"/>
              </a:spcBef>
              <a:spcAft>
                <a:spcPts val="0"/>
              </a:spcAft>
              <a:buSzPts val="2000"/>
              <a:buChar char="❑"/>
              <a:defRPr sz="2000"/>
            </a:lvl2pPr>
            <a:lvl3pPr marL="1371600" lvl="2" indent="-342900" algn="l">
              <a:spcBef>
                <a:spcPts val="360"/>
              </a:spcBef>
              <a:spcAft>
                <a:spcPts val="0"/>
              </a:spcAft>
              <a:buSzPts val="1800"/>
              <a:buChar char="❑"/>
              <a:defRPr sz="1800"/>
            </a:lvl3pPr>
            <a:lvl4pPr marL="1828800" lvl="3" indent="-330200" algn="l">
              <a:spcBef>
                <a:spcPts val="320"/>
              </a:spcBef>
              <a:spcAft>
                <a:spcPts val="0"/>
              </a:spcAft>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85" name="Google Shape;85;p18"/>
          <p:cNvSpPr txBox="1">
            <a:spLocks noGrp="1"/>
          </p:cNvSpPr>
          <p:nvPr>
            <p:ph type="body" idx="3"/>
          </p:nvPr>
        </p:nvSpPr>
        <p:spPr>
          <a:xfrm>
            <a:off x="4645025" y="681540"/>
            <a:ext cx="4041775" cy="479821"/>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SzPts val="2400"/>
              <a:buNone/>
              <a:defRPr sz="2400" b="1"/>
            </a:lvl1pPr>
            <a:lvl2pPr marL="914400" lvl="1" indent="-228600" algn="l">
              <a:spcBef>
                <a:spcPts val="400"/>
              </a:spcBef>
              <a:spcAft>
                <a:spcPts val="0"/>
              </a:spcAft>
              <a:buSzPts val="2000"/>
              <a:buNone/>
              <a:defRPr sz="2000" b="1"/>
            </a:lvl2pPr>
            <a:lvl3pPr marL="1371600" lvl="2" indent="-228600" algn="l">
              <a:spcBef>
                <a:spcPts val="360"/>
              </a:spcBef>
              <a:spcAft>
                <a:spcPts val="0"/>
              </a:spcAft>
              <a:buSzPts val="1800"/>
              <a:buNone/>
              <a:defRPr sz="1800" b="1"/>
            </a:lvl3pPr>
            <a:lvl4pPr marL="1828800" lvl="3" indent="-228600" algn="l">
              <a:spcBef>
                <a:spcPts val="320"/>
              </a:spcBef>
              <a:spcAft>
                <a:spcPts val="0"/>
              </a:spcAft>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86" name="Google Shape;86;p18"/>
          <p:cNvSpPr txBox="1">
            <a:spLocks noGrp="1"/>
          </p:cNvSpPr>
          <p:nvPr>
            <p:ph type="body" idx="4"/>
          </p:nvPr>
        </p:nvSpPr>
        <p:spPr>
          <a:xfrm>
            <a:off x="4645025" y="1161362"/>
            <a:ext cx="4041775" cy="3354605"/>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SzPts val="2400"/>
              <a:buChar char="❑"/>
              <a:defRPr sz="2400"/>
            </a:lvl1pPr>
            <a:lvl2pPr marL="914400" lvl="1" indent="-355600" algn="l">
              <a:spcBef>
                <a:spcPts val="400"/>
              </a:spcBef>
              <a:spcAft>
                <a:spcPts val="0"/>
              </a:spcAft>
              <a:buSzPts val="2000"/>
              <a:buChar char="❑"/>
              <a:defRPr sz="2000"/>
            </a:lvl2pPr>
            <a:lvl3pPr marL="1371600" lvl="2" indent="-342900" algn="l">
              <a:spcBef>
                <a:spcPts val="360"/>
              </a:spcBef>
              <a:spcAft>
                <a:spcPts val="0"/>
              </a:spcAft>
              <a:buSzPts val="1800"/>
              <a:buChar char="❑"/>
              <a:defRPr sz="1800"/>
            </a:lvl3pPr>
            <a:lvl4pPr marL="1828800" lvl="3" indent="-330200" algn="l">
              <a:spcBef>
                <a:spcPts val="320"/>
              </a:spcBef>
              <a:spcAft>
                <a:spcPts val="0"/>
              </a:spcAft>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87" name="Google Shape;87;p18"/>
          <p:cNvSpPr txBox="1">
            <a:spLocks noGrp="1"/>
          </p:cNvSpPr>
          <p:nvPr>
            <p:ph type="dt" idx="10"/>
          </p:nvPr>
        </p:nvSpPr>
        <p:spPr>
          <a:xfrm>
            <a:off x="457200" y="4767263"/>
            <a:ext cx="1090464"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8"/>
          <p:cNvSpPr txBox="1">
            <a:spLocks noGrp="1"/>
          </p:cNvSpPr>
          <p:nvPr>
            <p:ph type="sldNum" idx="12"/>
          </p:nvPr>
        </p:nvSpPr>
        <p:spPr>
          <a:xfrm>
            <a:off x="7812360" y="4767263"/>
            <a:ext cx="87444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89" name="Google Shape;89;p18"/>
          <p:cNvSpPr txBox="1">
            <a:spLocks noGrp="1"/>
          </p:cNvSpPr>
          <p:nvPr>
            <p:ph type="ftr" idx="11"/>
          </p:nvPr>
        </p:nvSpPr>
        <p:spPr>
          <a:xfrm>
            <a:off x="2477294" y="4774406"/>
            <a:ext cx="4400128"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251520" y="116324"/>
            <a:ext cx="8100311" cy="36755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C0000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19"/>
          <p:cNvSpPr txBox="1">
            <a:spLocks noGrp="1"/>
          </p:cNvSpPr>
          <p:nvPr>
            <p:ph type="dt" idx="10"/>
          </p:nvPr>
        </p:nvSpPr>
        <p:spPr>
          <a:xfrm>
            <a:off x="457200" y="4767263"/>
            <a:ext cx="1090464"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9"/>
          <p:cNvSpPr txBox="1">
            <a:spLocks noGrp="1"/>
          </p:cNvSpPr>
          <p:nvPr>
            <p:ph type="sldNum" idx="12"/>
          </p:nvPr>
        </p:nvSpPr>
        <p:spPr>
          <a:xfrm>
            <a:off x="7812360" y="4767263"/>
            <a:ext cx="87444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94" name="Google Shape;94;p19"/>
          <p:cNvSpPr txBox="1">
            <a:spLocks noGrp="1"/>
          </p:cNvSpPr>
          <p:nvPr>
            <p:ph type="ftr" idx="11"/>
          </p:nvPr>
        </p:nvSpPr>
        <p:spPr>
          <a:xfrm>
            <a:off x="2371936" y="4767263"/>
            <a:ext cx="4400128"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432128" y="116324"/>
            <a:ext cx="7919703" cy="367550"/>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rgbClr val="C0000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20"/>
          <p:cNvSpPr txBox="1">
            <a:spLocks noGrp="1"/>
          </p:cNvSpPr>
          <p:nvPr>
            <p:ph type="body" idx="1"/>
          </p:nvPr>
        </p:nvSpPr>
        <p:spPr>
          <a:xfrm rot="5400000">
            <a:off x="2640085" y="-1387036"/>
            <a:ext cx="3899687"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8" name="Google Shape;98;p20"/>
          <p:cNvSpPr txBox="1">
            <a:spLocks noGrp="1"/>
          </p:cNvSpPr>
          <p:nvPr>
            <p:ph type="dt" idx="10"/>
          </p:nvPr>
        </p:nvSpPr>
        <p:spPr>
          <a:xfrm>
            <a:off x="457200" y="4767263"/>
            <a:ext cx="1090464"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20"/>
          <p:cNvSpPr txBox="1">
            <a:spLocks noGrp="1"/>
          </p:cNvSpPr>
          <p:nvPr>
            <p:ph type="sldNum" idx="12"/>
          </p:nvPr>
        </p:nvSpPr>
        <p:spPr>
          <a:xfrm>
            <a:off x="7812360" y="4767263"/>
            <a:ext cx="87444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
        <p:nvSpPr>
          <p:cNvPr id="100" name="Google Shape;100;p20"/>
          <p:cNvSpPr txBox="1">
            <a:spLocks noGrp="1"/>
          </p:cNvSpPr>
          <p:nvPr>
            <p:ph type="ftr" idx="11"/>
          </p:nvPr>
        </p:nvSpPr>
        <p:spPr>
          <a:xfrm>
            <a:off x="2389865" y="4767263"/>
            <a:ext cx="4400128"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image" Target="../media/image2.png"/><Relationship Id="rId4" Type="http://schemas.openxmlformats.org/officeDocument/2006/relationships/slideLayout" Target="../slideLayouts/slideLayout15.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32128" y="116324"/>
            <a:ext cx="7919703" cy="36755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rgbClr val="C00000"/>
              </a:buClr>
              <a:buSzPts val="2400"/>
              <a:buFont typeface="Calibri"/>
              <a:buNone/>
              <a:defRPr sz="2400" b="1" i="0" u="none" strike="noStrike" cap="none">
                <a:solidFill>
                  <a:srgbClr val="C00000"/>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475129" y="777920"/>
            <a:ext cx="8229600" cy="3899687"/>
          </a:xfrm>
          <a:prstGeom prst="rect">
            <a:avLst/>
          </a:prstGeom>
          <a:noFill/>
          <a:ln>
            <a:noFill/>
          </a:ln>
        </p:spPr>
        <p:txBody>
          <a:bodyPr spcFirstLastPara="1" wrap="square" lIns="91425" tIns="45700" rIns="91425" bIns="45700" anchor="t" anchorCtr="0">
            <a:normAutofit/>
          </a:bodyPr>
          <a:lstStyle>
            <a:lvl1pPr marL="457200" marR="0" lvl="0" indent="-368300" algn="l" rtl="0">
              <a:spcBef>
                <a:spcPts val="440"/>
              </a:spcBef>
              <a:spcAft>
                <a:spcPts val="0"/>
              </a:spcAft>
              <a:buClr>
                <a:srgbClr val="C00000"/>
              </a:buClr>
              <a:buSzPts val="2200"/>
              <a:buFont typeface="Noto Sans Symbols"/>
              <a:buChar char="❑"/>
              <a:defRPr sz="2200" b="0" i="0" u="none" strike="noStrike" cap="none">
                <a:solidFill>
                  <a:schemeClr val="dk1"/>
                </a:solidFill>
                <a:latin typeface="Calibri"/>
                <a:ea typeface="Calibri"/>
                <a:cs typeface="Calibri"/>
                <a:sym typeface="Calibri"/>
              </a:defRPr>
            </a:lvl1pPr>
            <a:lvl2pPr marL="914400" marR="0" lvl="1" indent="-368300" algn="l" rtl="0">
              <a:spcBef>
                <a:spcPts val="440"/>
              </a:spcBef>
              <a:spcAft>
                <a:spcPts val="0"/>
              </a:spcAft>
              <a:buClr>
                <a:srgbClr val="0070C0"/>
              </a:buClr>
              <a:buSzPts val="2200"/>
              <a:buFont typeface="Noto Sans Symbols"/>
              <a:buChar char="❑"/>
              <a:defRPr sz="2200" b="0" i="0" u="none" strike="noStrike" cap="none">
                <a:solidFill>
                  <a:schemeClr val="dk1"/>
                </a:solidFill>
                <a:latin typeface="Calibri"/>
                <a:ea typeface="Calibri"/>
                <a:cs typeface="Calibri"/>
                <a:sym typeface="Calibri"/>
              </a:defRPr>
            </a:lvl2pPr>
            <a:lvl3pPr marL="1371600" marR="0" lvl="2" indent="-368300" algn="l" rtl="0">
              <a:spcBef>
                <a:spcPts val="440"/>
              </a:spcBef>
              <a:spcAft>
                <a:spcPts val="0"/>
              </a:spcAft>
              <a:buClr>
                <a:srgbClr val="00B050"/>
              </a:buClr>
              <a:buSzPts val="2200"/>
              <a:buFont typeface="Noto Sans Symbols"/>
              <a:buChar char="❑"/>
              <a:defRPr sz="2200" b="0" i="0" u="none" strike="noStrike" cap="none">
                <a:solidFill>
                  <a:schemeClr val="dk1"/>
                </a:solidFill>
                <a:latin typeface="Calibri"/>
                <a:ea typeface="Calibri"/>
                <a:cs typeface="Calibri"/>
                <a:sym typeface="Calibri"/>
              </a:defRPr>
            </a:lvl3pPr>
            <a:lvl4pPr marL="1828800" marR="0" lvl="3" indent="-368300" algn="l" rtl="0">
              <a:spcBef>
                <a:spcPts val="440"/>
              </a:spcBef>
              <a:spcAft>
                <a:spcPts val="0"/>
              </a:spcAft>
              <a:buClr>
                <a:schemeClr val="accent6"/>
              </a:buClr>
              <a:buSzPts val="2200"/>
              <a:buFont typeface="Noto Sans Symbols"/>
              <a:buChar char="❑"/>
              <a:defRPr sz="2200" b="0" i="0" u="none" strike="noStrike" cap="none">
                <a:solidFill>
                  <a:schemeClr val="dk1"/>
                </a:solidFill>
                <a:latin typeface="Calibri"/>
                <a:ea typeface="Calibri"/>
                <a:cs typeface="Calibri"/>
                <a:sym typeface="Calibri"/>
              </a:defRPr>
            </a:lvl4pPr>
            <a:lvl5pPr marL="2286000" marR="0" lvl="4" indent="-368300" algn="l" rtl="0">
              <a:spcBef>
                <a:spcPts val="440"/>
              </a:spcBef>
              <a:spcAft>
                <a:spcPts val="0"/>
              </a:spcAft>
              <a:buClr>
                <a:schemeClr val="dk1"/>
              </a:buClr>
              <a:buSzPts val="2200"/>
              <a:buFont typeface="Noto Sans Symbols"/>
              <a:buChar char="❑"/>
              <a:defRPr sz="22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457200" y="4767263"/>
            <a:ext cx="1090464"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1835696" y="4767263"/>
            <a:ext cx="5112568"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7812360" y="4767263"/>
            <a:ext cx="87444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pic>
        <p:nvPicPr>
          <p:cNvPr id="56" name="Google Shape;56;p13"/>
          <p:cNvPicPr preferRelativeResize="0"/>
          <p:nvPr/>
        </p:nvPicPr>
        <p:blipFill rotWithShape="1">
          <a:blip r:embed="rId9">
            <a:alphaModFix/>
          </a:blip>
          <a:srcRect/>
          <a:stretch/>
        </p:blipFill>
        <p:spPr>
          <a:xfrm>
            <a:off x="8395869" y="-20538"/>
            <a:ext cx="588482" cy="546858"/>
          </a:xfrm>
          <a:prstGeom prst="rect">
            <a:avLst/>
          </a:prstGeom>
          <a:noFill/>
          <a:ln>
            <a:noFill/>
          </a:ln>
        </p:spPr>
      </p:pic>
      <p:pic>
        <p:nvPicPr>
          <p:cNvPr id="57" name="Google Shape;57;p13"/>
          <p:cNvPicPr preferRelativeResize="0"/>
          <p:nvPr/>
        </p:nvPicPr>
        <p:blipFill rotWithShape="1">
          <a:blip r:embed="rId10">
            <a:alphaModFix/>
          </a:blip>
          <a:srcRect/>
          <a:stretch/>
        </p:blipFill>
        <p:spPr>
          <a:xfrm>
            <a:off x="7560" y="519522"/>
            <a:ext cx="9128880" cy="16874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hyperlink" Target="https://www.sciencedirect.com/science/article/pii/S2666920X25000578" TargetMode="External"/><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1"/>
          <p:cNvSpPr txBox="1">
            <a:spLocks noGrp="1"/>
          </p:cNvSpPr>
          <p:nvPr>
            <p:ph type="ctrTitle"/>
          </p:nvPr>
        </p:nvSpPr>
        <p:spPr>
          <a:xfrm>
            <a:off x="1116330" y="879002"/>
            <a:ext cx="7772400" cy="1190100"/>
          </a:xfrm>
          <a:prstGeom prst="rect">
            <a:avLst/>
          </a:prstGeom>
          <a:noFill/>
          <a:ln>
            <a:noFill/>
          </a:ln>
        </p:spPr>
        <p:txBody>
          <a:bodyPr spcFirstLastPara="1" wrap="square" lIns="91425" tIns="45700" rIns="91425" bIns="45700" anchor="ctr" anchorCtr="0">
            <a:noAutofit/>
          </a:bodyPr>
          <a:lstStyle/>
          <a:p>
            <a:pPr lvl="0" algn="l">
              <a:lnSpc>
                <a:spcPct val="123913"/>
              </a:lnSpc>
              <a:buClr>
                <a:schemeClr val="dk1"/>
              </a:buClr>
              <a:buSzPts val="1100"/>
            </a:pPr>
            <a:r>
              <a:rPr lang="en-US" sz="2400" dirty="0">
                <a:latin typeface="Times New Roman" panose="02020603050405020304" pitchFamily="18" charset="0"/>
                <a:cs typeface="Times New Roman" panose="02020603050405020304" pitchFamily="18" charset="0"/>
              </a:rPr>
              <a:t>Retrieval-Augmented Generation for Educational Applications: A Systematic Survey</a:t>
            </a:r>
            <a:endParaRPr lang="en-US" sz="2400" dirty="0">
              <a:solidFill>
                <a:srgbClr val="C00000"/>
              </a:solidFill>
              <a:latin typeface="Times New Roman" panose="02020603050405020304" pitchFamily="18" charset="0"/>
              <a:ea typeface="Times New Roman"/>
              <a:cs typeface="Times New Roman" panose="02020603050405020304" pitchFamily="18" charset="0"/>
              <a:sym typeface="Times New Roman"/>
            </a:endParaRPr>
          </a:p>
        </p:txBody>
      </p:sp>
      <p:sp>
        <p:nvSpPr>
          <p:cNvPr id="107" name="Google Shape;107;p21"/>
          <p:cNvSpPr txBox="1">
            <a:spLocks noGrp="1"/>
          </p:cNvSpPr>
          <p:nvPr>
            <p:ph type="dt" idx="10"/>
          </p:nvPr>
        </p:nvSpPr>
        <p:spPr>
          <a:xfrm>
            <a:off x="457200" y="4767263"/>
            <a:ext cx="946448" cy="27384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IN" dirty="0"/>
              <a:t>18-02-2026</a:t>
            </a:r>
            <a:endParaRPr dirty="0"/>
          </a:p>
        </p:txBody>
      </p:sp>
      <p:sp>
        <p:nvSpPr>
          <p:cNvPr id="108" name="Google Shape;108;p21"/>
          <p:cNvSpPr txBox="1">
            <a:spLocks noGrp="1"/>
          </p:cNvSpPr>
          <p:nvPr>
            <p:ph type="ftr" idx="11"/>
          </p:nvPr>
        </p:nvSpPr>
        <p:spPr>
          <a:xfrm>
            <a:off x="2627784" y="4785996"/>
            <a:ext cx="4400128" cy="27384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 dirty="0"/>
              <a:t>SVECW | Department of Artificial Intelligence | Seminar</a:t>
            </a:r>
          </a:p>
        </p:txBody>
      </p:sp>
      <p:sp>
        <p:nvSpPr>
          <p:cNvPr id="109" name="Google Shape;109;p21"/>
          <p:cNvSpPr txBox="1">
            <a:spLocks noGrp="1"/>
          </p:cNvSpPr>
          <p:nvPr>
            <p:ph type="sldNum" idx="12"/>
          </p:nvPr>
        </p:nvSpPr>
        <p:spPr>
          <a:xfrm>
            <a:off x="8172400" y="4767263"/>
            <a:ext cx="514400"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
              <a:t>1</a:t>
            </a:fld>
            <a:endParaRPr/>
          </a:p>
        </p:txBody>
      </p:sp>
      <p:sp>
        <p:nvSpPr>
          <p:cNvPr id="110" name="Google Shape;110;p21"/>
          <p:cNvSpPr/>
          <p:nvPr/>
        </p:nvSpPr>
        <p:spPr>
          <a:xfrm>
            <a:off x="1403648" y="2473173"/>
            <a:ext cx="2676168" cy="1977483"/>
          </a:xfrm>
          <a:prstGeom prst="rect">
            <a:avLst/>
          </a:prstGeom>
          <a:noFill/>
          <a:ln>
            <a:noFill/>
          </a:ln>
        </p:spPr>
        <p:txBody>
          <a:bodyPr spcFirstLastPara="1" wrap="square" lIns="91425" tIns="45700" rIns="91425" bIns="45700" anchor="t" anchorCtr="0">
            <a:noAutofit/>
          </a:bodyPr>
          <a:lstStyle/>
          <a:p>
            <a:pPr marL="0" lvl="0" indent="0" rtl="0">
              <a:lnSpc>
                <a:spcPct val="150000"/>
              </a:lnSpc>
              <a:spcBef>
                <a:spcPts val="440"/>
              </a:spcBef>
              <a:spcAft>
                <a:spcPts val="0"/>
              </a:spcAft>
              <a:buClr>
                <a:schemeClr val="dk1"/>
              </a:buClr>
              <a:buSzPts val="1100"/>
              <a:buFont typeface="Arial"/>
              <a:buNone/>
            </a:pPr>
            <a:r>
              <a:rPr lang="en" sz="2000" b="1" dirty="0">
                <a:solidFill>
                  <a:srgbClr val="C00000"/>
                </a:solidFill>
                <a:latin typeface="Times New Roman" panose="02020603050405020304" pitchFamily="18" charset="0"/>
                <a:ea typeface="Times New Roman"/>
                <a:cs typeface="Times New Roman" panose="02020603050405020304" pitchFamily="18" charset="0"/>
                <a:sym typeface="Times New Roman"/>
              </a:rPr>
              <a:t>Authors:</a:t>
            </a:r>
            <a:endParaRPr b="1" dirty="0">
              <a:solidFill>
                <a:srgbClr val="C00000"/>
              </a:solidFill>
              <a:latin typeface="Times New Roman" panose="02020603050405020304" pitchFamily="18" charset="0"/>
              <a:ea typeface="Times New Roman"/>
              <a:cs typeface="Times New Roman" panose="02020603050405020304" pitchFamily="18" charset="0"/>
              <a:sym typeface="Times New Roman"/>
            </a:endParaRPr>
          </a:p>
          <a:p>
            <a:pPr marL="285750" indent="-285750">
              <a:buFont typeface="Arial" panose="020B0604020202020204" pitchFamily="34" charset="0"/>
              <a:buChar char="•"/>
            </a:pPr>
            <a:r>
              <a:rPr lang="de-DE" b="1" dirty="0">
                <a:latin typeface="Times New Roman" panose="02020603050405020304" pitchFamily="18" charset="0"/>
                <a:cs typeface="Times New Roman" panose="02020603050405020304" pitchFamily="18" charset="0"/>
              </a:rPr>
              <a:t>Z. Li</a:t>
            </a:r>
          </a:p>
          <a:p>
            <a:pPr marL="285750" indent="-285750">
              <a:buFont typeface="Arial" panose="020B0604020202020204" pitchFamily="34" charset="0"/>
              <a:buChar char="•"/>
            </a:pPr>
            <a:r>
              <a:rPr lang="de-DE" b="1" dirty="0">
                <a:latin typeface="Times New Roman" panose="02020603050405020304" pitchFamily="18" charset="0"/>
                <a:cs typeface="Times New Roman" panose="02020603050405020304" pitchFamily="18" charset="0"/>
              </a:rPr>
              <a:t>Z. Wang </a:t>
            </a:r>
          </a:p>
          <a:p>
            <a:pPr marL="285750" indent="-285750">
              <a:buFont typeface="Arial" panose="020B0604020202020204" pitchFamily="34" charset="0"/>
              <a:buChar char="•"/>
            </a:pPr>
            <a:r>
              <a:rPr lang="de-DE" b="1" dirty="0">
                <a:latin typeface="Times New Roman" panose="02020603050405020304" pitchFamily="18" charset="0"/>
                <a:cs typeface="Times New Roman" panose="02020603050405020304" pitchFamily="18" charset="0"/>
              </a:rPr>
              <a:t>W. Wang </a:t>
            </a:r>
          </a:p>
          <a:p>
            <a:pPr marL="285750" indent="-285750">
              <a:buFont typeface="Arial" panose="020B0604020202020204" pitchFamily="34" charset="0"/>
              <a:buChar char="•"/>
            </a:pPr>
            <a:r>
              <a:rPr lang="de-DE" b="1" dirty="0">
                <a:latin typeface="Times New Roman" panose="02020603050405020304" pitchFamily="18" charset="0"/>
                <a:cs typeface="Times New Roman" panose="02020603050405020304" pitchFamily="18" charset="0"/>
              </a:rPr>
              <a:t>K. Hung </a:t>
            </a:r>
          </a:p>
          <a:p>
            <a:pPr marL="285750" indent="-285750">
              <a:buFont typeface="Arial" panose="020B0604020202020204" pitchFamily="34" charset="0"/>
              <a:buChar char="•"/>
            </a:pPr>
            <a:r>
              <a:rPr lang="de-DE" b="1" dirty="0">
                <a:latin typeface="Times New Roman" panose="02020603050405020304" pitchFamily="18" charset="0"/>
                <a:cs typeface="Times New Roman" panose="02020603050405020304" pitchFamily="18" charset="0"/>
              </a:rPr>
              <a:t>H. Xie</a:t>
            </a:r>
          </a:p>
          <a:p>
            <a:pPr marL="285750" indent="-285750">
              <a:buFont typeface="Arial" panose="020B0604020202020204" pitchFamily="34" charset="0"/>
              <a:buChar char="•"/>
            </a:pPr>
            <a:r>
              <a:rPr lang="de-DE" b="1" dirty="0">
                <a:latin typeface="Times New Roman" panose="02020603050405020304" pitchFamily="18" charset="0"/>
                <a:cs typeface="Times New Roman" panose="02020603050405020304" pitchFamily="18" charset="0"/>
              </a:rPr>
              <a:t>F. L. Wang</a:t>
            </a:r>
            <a:endParaRPr dirty="0">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11" name="Google Shape;111;p21"/>
          <p:cNvSpPr/>
          <p:nvPr/>
        </p:nvSpPr>
        <p:spPr>
          <a:xfrm>
            <a:off x="4800600" y="2251325"/>
            <a:ext cx="4114800" cy="2130600"/>
          </a:xfrm>
          <a:prstGeom prst="rect">
            <a:avLst/>
          </a:prstGeom>
          <a:noFill/>
          <a:ln>
            <a:noFill/>
          </a:ln>
        </p:spPr>
        <p:txBody>
          <a:bodyPr spcFirstLastPara="1" wrap="square" lIns="91425" tIns="45700" rIns="91425" bIns="45700" anchor="t" anchorCtr="0">
            <a:noAutofit/>
          </a:bodyPr>
          <a:lstStyle/>
          <a:p>
            <a:pPr marL="0" lvl="0" indent="0" algn="l" rtl="0">
              <a:spcBef>
                <a:spcPts val="440"/>
              </a:spcBef>
              <a:spcAft>
                <a:spcPts val="0"/>
              </a:spcAft>
              <a:buClr>
                <a:schemeClr val="dk1"/>
              </a:buClr>
              <a:buSzPts val="1100"/>
              <a:buFont typeface="Arial"/>
              <a:buNone/>
            </a:pPr>
            <a:r>
              <a:rPr lang="en" sz="1700" b="1" dirty="0">
                <a:solidFill>
                  <a:srgbClr val="C00000"/>
                </a:solidFill>
                <a:latin typeface="Times New Roman"/>
                <a:ea typeface="Times New Roman"/>
                <a:cs typeface="Times New Roman"/>
                <a:sym typeface="Times New Roman"/>
              </a:rPr>
              <a:t>Presented By:</a:t>
            </a:r>
            <a:endParaRPr sz="1700" b="1" dirty="0">
              <a:solidFill>
                <a:srgbClr val="C00000"/>
              </a:solidFill>
              <a:latin typeface="Times New Roman"/>
              <a:ea typeface="Times New Roman"/>
              <a:cs typeface="Times New Roman"/>
              <a:sym typeface="Times New Roman"/>
            </a:endParaRPr>
          </a:p>
          <a:p>
            <a:pPr marL="0" lvl="0" indent="0" algn="l" rtl="0">
              <a:spcBef>
                <a:spcPts val="440"/>
              </a:spcBef>
              <a:spcAft>
                <a:spcPts val="0"/>
              </a:spcAft>
              <a:buClr>
                <a:schemeClr val="dk1"/>
              </a:buClr>
              <a:buSzPts val="1100"/>
              <a:buFont typeface="Arial"/>
              <a:buNone/>
            </a:pPr>
            <a:r>
              <a:rPr lang="en" sz="1300" b="1" dirty="0">
                <a:solidFill>
                  <a:schemeClr val="dk1"/>
                </a:solidFill>
                <a:latin typeface="Times New Roman"/>
                <a:ea typeface="Times New Roman"/>
                <a:cs typeface="Times New Roman"/>
                <a:sym typeface="Times New Roman"/>
              </a:rPr>
              <a:t>Bondada Eesalini – 22B01A4215</a:t>
            </a:r>
          </a:p>
          <a:p>
            <a:pPr marL="0" lvl="0" indent="0" algn="l" rtl="0">
              <a:spcBef>
                <a:spcPts val="440"/>
              </a:spcBef>
              <a:spcAft>
                <a:spcPts val="0"/>
              </a:spcAft>
              <a:buClr>
                <a:schemeClr val="dk1"/>
              </a:buClr>
              <a:buSzPts val="1100"/>
              <a:buFont typeface="Arial"/>
              <a:buNone/>
            </a:pPr>
            <a:r>
              <a:rPr lang="en" sz="1300" dirty="0">
                <a:solidFill>
                  <a:schemeClr val="dk1"/>
                </a:solidFill>
                <a:latin typeface="Times New Roman"/>
                <a:ea typeface="Times New Roman"/>
                <a:cs typeface="Times New Roman"/>
                <a:sym typeface="Times New Roman"/>
              </a:rPr>
              <a:t>Shri Vishnu Engineering College for Women</a:t>
            </a:r>
            <a:endParaRPr sz="1300" dirty="0">
              <a:solidFill>
                <a:schemeClr val="dk1"/>
              </a:solidFill>
              <a:latin typeface="Times New Roman"/>
              <a:ea typeface="Times New Roman"/>
              <a:cs typeface="Times New Roman"/>
              <a:sym typeface="Times New Roman"/>
            </a:endParaRPr>
          </a:p>
          <a:p>
            <a:pPr marL="0" lvl="0" indent="0" algn="l" rtl="0">
              <a:spcBef>
                <a:spcPts val="440"/>
              </a:spcBef>
              <a:spcAft>
                <a:spcPts val="0"/>
              </a:spcAft>
              <a:buClr>
                <a:schemeClr val="dk1"/>
              </a:buClr>
              <a:buSzPts val="1100"/>
              <a:buFont typeface="Arial"/>
              <a:buNone/>
            </a:pPr>
            <a:r>
              <a:rPr lang="en" sz="1700" b="1" dirty="0">
                <a:solidFill>
                  <a:srgbClr val="C00000"/>
                </a:solidFill>
                <a:latin typeface="Times New Roman"/>
                <a:ea typeface="Times New Roman"/>
                <a:cs typeface="Times New Roman"/>
                <a:sym typeface="Times New Roman"/>
              </a:rPr>
              <a:t>Under the guidance of:</a:t>
            </a:r>
            <a:endParaRPr sz="1700" b="1" dirty="0">
              <a:solidFill>
                <a:srgbClr val="C00000"/>
              </a:solidFill>
              <a:latin typeface="Times New Roman"/>
              <a:ea typeface="Times New Roman"/>
              <a:cs typeface="Times New Roman"/>
              <a:sym typeface="Times New Roman"/>
            </a:endParaRPr>
          </a:p>
          <a:p>
            <a:pPr marL="0" lvl="0" indent="0" algn="l" rtl="0">
              <a:spcBef>
                <a:spcPts val="0"/>
              </a:spcBef>
              <a:spcAft>
                <a:spcPts val="0"/>
              </a:spcAft>
              <a:buClr>
                <a:schemeClr val="dk1"/>
              </a:buClr>
              <a:buFont typeface="Arial"/>
              <a:buNone/>
            </a:pPr>
            <a:r>
              <a:rPr lang="en" sz="1300" b="1" dirty="0">
                <a:solidFill>
                  <a:schemeClr val="dk1"/>
                </a:solidFill>
                <a:latin typeface="Times New Roman"/>
                <a:ea typeface="Times New Roman"/>
                <a:cs typeface="Times New Roman"/>
                <a:sym typeface="Times New Roman"/>
              </a:rPr>
              <a:t>Mrs</a:t>
            </a:r>
            <a:r>
              <a:rPr lang="en" sz="1500" b="1" dirty="0">
                <a:solidFill>
                  <a:schemeClr val="dk1"/>
                </a:solidFill>
                <a:latin typeface="Times New Roman"/>
                <a:ea typeface="Times New Roman"/>
                <a:cs typeface="Times New Roman"/>
                <a:sym typeface="Times New Roman"/>
              </a:rPr>
              <a:t>.</a:t>
            </a:r>
            <a:r>
              <a:rPr lang="en" sz="1300" b="1" dirty="0">
                <a:solidFill>
                  <a:schemeClr val="dk1"/>
                </a:solidFill>
                <a:latin typeface="Times New Roman"/>
                <a:ea typeface="Times New Roman"/>
                <a:cs typeface="Times New Roman"/>
                <a:sym typeface="Times New Roman"/>
              </a:rPr>
              <a:t>K Kalyani</a:t>
            </a:r>
          </a:p>
          <a:p>
            <a:pPr marL="0" lvl="0" indent="0" algn="l" rtl="0">
              <a:spcBef>
                <a:spcPts val="0"/>
              </a:spcBef>
              <a:spcAft>
                <a:spcPts val="0"/>
              </a:spcAft>
              <a:buClr>
                <a:schemeClr val="dk1"/>
              </a:buClr>
              <a:buFont typeface="Arial"/>
              <a:buNone/>
            </a:pPr>
            <a:r>
              <a:rPr lang="en" sz="1500" dirty="0">
                <a:solidFill>
                  <a:schemeClr val="dk1"/>
                </a:solidFill>
                <a:latin typeface="Times New Roman"/>
                <a:ea typeface="Times New Roman"/>
                <a:cs typeface="Times New Roman"/>
                <a:sym typeface="Times New Roman"/>
              </a:rPr>
              <a:t>Asst.Professor</a:t>
            </a:r>
            <a:endParaRPr sz="9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Font typeface="Arial"/>
              <a:buNone/>
            </a:pPr>
            <a:r>
              <a:rPr lang="en" sz="1500" dirty="0">
                <a:solidFill>
                  <a:schemeClr val="dk1"/>
                </a:solidFill>
                <a:latin typeface="Times New Roman"/>
                <a:ea typeface="Times New Roman"/>
                <a:cs typeface="Times New Roman"/>
                <a:sym typeface="Times New Roman"/>
              </a:rPr>
              <a:t>Department of AI</a:t>
            </a:r>
            <a:endParaRPr sz="1500"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Font typeface="Arial"/>
              <a:buNone/>
            </a:pPr>
            <a:r>
              <a:rPr lang="en" sz="1500" dirty="0">
                <a:solidFill>
                  <a:schemeClr val="dk1"/>
                </a:solidFill>
                <a:latin typeface="Times New Roman"/>
                <a:ea typeface="Times New Roman"/>
                <a:cs typeface="Times New Roman"/>
                <a:sym typeface="Times New Roman"/>
              </a:rPr>
              <a:t>Shri Vishnu Engineering College for Women</a:t>
            </a:r>
            <a:endParaRPr sz="900" dirty="0">
              <a:solidFill>
                <a:schemeClr val="dk1"/>
              </a:solidFill>
              <a:latin typeface="Times New Roman"/>
              <a:ea typeface="Times New Roman"/>
              <a:cs typeface="Times New Roman"/>
              <a:sym typeface="Times New Roman"/>
            </a:endParaRPr>
          </a:p>
          <a:p>
            <a:pPr marL="0" lvl="0" indent="0" algn="l" rtl="0">
              <a:spcBef>
                <a:spcPts val="440"/>
              </a:spcBef>
              <a:spcAft>
                <a:spcPts val="0"/>
              </a:spcAft>
              <a:buClr>
                <a:schemeClr val="dk1"/>
              </a:buClr>
              <a:buSzPts val="1100"/>
              <a:buFont typeface="Arial"/>
              <a:buNone/>
            </a:pPr>
            <a:endParaRPr sz="2200" b="1" dirty="0">
              <a:solidFill>
                <a:srgbClr val="158158"/>
              </a:solidFill>
              <a:latin typeface="Times New Roman"/>
              <a:ea typeface="Times New Roman"/>
              <a:cs typeface="Times New Roman"/>
              <a:sym typeface="Times New Roman"/>
            </a:endParaRPr>
          </a:p>
          <a:p>
            <a:pPr marL="457200" lvl="0" indent="0" algn="l" rtl="0">
              <a:spcBef>
                <a:spcPts val="440"/>
              </a:spcBef>
              <a:spcAft>
                <a:spcPts val="0"/>
              </a:spcAft>
              <a:buClr>
                <a:schemeClr val="dk1"/>
              </a:buClr>
              <a:buSzPts val="1100"/>
              <a:buFont typeface="Arial"/>
              <a:buNone/>
            </a:pPr>
            <a:endParaRPr sz="1500" b="1" dirty="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Font typeface="Arial"/>
              <a:buNone/>
            </a:pPr>
            <a:endParaRPr sz="20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2000" dirty="0">
              <a:solidFill>
                <a:srgbClr val="C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2"/>
          <p:cNvSpPr txBox="1">
            <a:spLocks noGrp="1"/>
          </p:cNvSpPr>
          <p:nvPr>
            <p:ph type="title"/>
          </p:nvPr>
        </p:nvSpPr>
        <p:spPr>
          <a:xfrm>
            <a:off x="270728" y="116324"/>
            <a:ext cx="7919700" cy="3675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rgbClr val="C00000"/>
              </a:buClr>
              <a:buSzPct val="100000"/>
              <a:buFont typeface="Calibri"/>
              <a:buNone/>
            </a:pPr>
            <a:r>
              <a:rPr lang="en" dirty="0">
                <a:latin typeface="Times New Roman" panose="02020603050405020304" pitchFamily="18" charset="0"/>
                <a:cs typeface="Times New Roman" panose="02020603050405020304" pitchFamily="18" charset="0"/>
              </a:rPr>
              <a:t>Introduction</a:t>
            </a:r>
            <a:endParaRPr dirty="0">
              <a:latin typeface="Times New Roman" panose="02020603050405020304" pitchFamily="18" charset="0"/>
              <a:cs typeface="Times New Roman" panose="02020603050405020304" pitchFamily="18" charset="0"/>
            </a:endParaRPr>
          </a:p>
        </p:txBody>
      </p:sp>
      <p:sp>
        <p:nvSpPr>
          <p:cNvPr id="118" name="Google Shape;118;p22"/>
          <p:cNvSpPr txBox="1">
            <a:spLocks noGrp="1"/>
          </p:cNvSpPr>
          <p:nvPr>
            <p:ph type="dt" idx="10"/>
          </p:nvPr>
        </p:nvSpPr>
        <p:spPr>
          <a:xfrm>
            <a:off x="457200" y="4755833"/>
            <a:ext cx="1090464" cy="27384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 dirty="0"/>
              <a:t>18-02-2026</a:t>
            </a:r>
            <a:endParaRPr dirty="0"/>
          </a:p>
        </p:txBody>
      </p:sp>
      <p:sp>
        <p:nvSpPr>
          <p:cNvPr id="119" name="Google Shape;119;p22"/>
          <p:cNvSpPr txBox="1">
            <a:spLocks noGrp="1"/>
          </p:cNvSpPr>
          <p:nvPr>
            <p:ph type="sldNum" idx="12"/>
          </p:nvPr>
        </p:nvSpPr>
        <p:spPr>
          <a:xfrm>
            <a:off x="7812360" y="4767263"/>
            <a:ext cx="874440"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
              <a:t>2</a:t>
            </a:fld>
            <a:endParaRPr/>
          </a:p>
        </p:txBody>
      </p:sp>
      <p:sp>
        <p:nvSpPr>
          <p:cNvPr id="120" name="Google Shape;120;p22"/>
          <p:cNvSpPr txBox="1">
            <a:spLocks noGrp="1"/>
          </p:cNvSpPr>
          <p:nvPr>
            <p:ph type="ftr" idx="11"/>
          </p:nvPr>
        </p:nvSpPr>
        <p:spPr>
          <a:xfrm>
            <a:off x="2371936" y="4770416"/>
            <a:ext cx="4400128" cy="27384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 dirty="0"/>
              <a:t>SVECW | Department of Artificial Intelligence| Seminar</a:t>
            </a:r>
            <a:endParaRPr dirty="0"/>
          </a:p>
        </p:txBody>
      </p:sp>
      <p:sp>
        <p:nvSpPr>
          <p:cNvPr id="3" name="Text Placeholder 2">
            <a:extLst>
              <a:ext uri="{FF2B5EF4-FFF2-40B4-BE49-F238E27FC236}">
                <a16:creationId xmlns:a16="http://schemas.microsoft.com/office/drawing/2014/main" id="{826F09C8-4AC8-2519-DB9C-8CF768271BE7}"/>
              </a:ext>
            </a:extLst>
          </p:cNvPr>
          <p:cNvSpPr>
            <a:spLocks noGrp="1" noChangeArrowheads="1"/>
          </p:cNvSpPr>
          <p:nvPr>
            <p:ph type="body" idx="1"/>
          </p:nvPr>
        </p:nvSpPr>
        <p:spPr bwMode="auto">
          <a:xfrm>
            <a:off x="329879" y="560983"/>
            <a:ext cx="7919701" cy="42062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14300" indent="0" algn="just">
              <a:lnSpc>
                <a:spcPct val="150000"/>
              </a:lnSpc>
              <a:buNone/>
            </a:pPr>
            <a:r>
              <a:rPr lang="en-US" sz="1600" dirty="0">
                <a:latin typeface="Times New Roman" panose="02020603050405020304" pitchFamily="18" charset="0"/>
                <a:cs typeface="Times New Roman" panose="02020603050405020304" pitchFamily="18" charset="0"/>
              </a:rPr>
              <a:t>The rapid advancement of Large Language Models (LLMs) has significantly influenced educational technology, enabling intelligent tutoring, automated assessment, and interactive learning assistants. However, standalone LLMs often generate responses based solely on internal parametric knowledge, which may lead to hallucinations, outdated information, or lack of syllabus alignment. In educational settings, factual correctness and reliability are critical to ensure effective learning outcomes. Retrieval-Augmented Generation (RAG) has emerged as a promising solution by integrating external knowledge retrieval with language generation. By grounding responses in verified academic sources, RAG enhances factual accuracy and contextual relevance. This paper provides a systematic survey of RAG applications in education, analyzing existing architectures, use cases, challenges, and future research directions.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3"/>
          <p:cNvSpPr txBox="1">
            <a:spLocks noGrp="1"/>
          </p:cNvSpPr>
          <p:nvPr>
            <p:ph type="title"/>
          </p:nvPr>
        </p:nvSpPr>
        <p:spPr>
          <a:xfrm>
            <a:off x="432128" y="116324"/>
            <a:ext cx="7919703" cy="36755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rgbClr val="C00000"/>
              </a:buClr>
              <a:buSzPct val="100000"/>
              <a:buFont typeface="Calibri"/>
              <a:buNone/>
            </a:pPr>
            <a:r>
              <a:rPr lang="en" dirty="0">
                <a:latin typeface="Times New Roman" panose="02020603050405020304" pitchFamily="18" charset="0"/>
                <a:cs typeface="Times New Roman" panose="02020603050405020304" pitchFamily="18" charset="0"/>
              </a:rPr>
              <a:t>Literature Survey</a:t>
            </a:r>
            <a:endParaRPr dirty="0">
              <a:latin typeface="Times New Roman" panose="02020603050405020304" pitchFamily="18" charset="0"/>
              <a:cs typeface="Times New Roman" panose="02020603050405020304" pitchFamily="18" charset="0"/>
            </a:endParaRPr>
          </a:p>
        </p:txBody>
      </p:sp>
      <p:sp>
        <p:nvSpPr>
          <p:cNvPr id="127" name="Google Shape;127;p23"/>
          <p:cNvSpPr txBox="1">
            <a:spLocks noGrp="1"/>
          </p:cNvSpPr>
          <p:nvPr>
            <p:ph type="dt" idx="10"/>
          </p:nvPr>
        </p:nvSpPr>
        <p:spPr>
          <a:xfrm>
            <a:off x="457200" y="4767263"/>
            <a:ext cx="1090464" cy="27384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 dirty="0"/>
              <a:t>18-02-2026</a:t>
            </a:r>
            <a:endParaRPr dirty="0"/>
          </a:p>
        </p:txBody>
      </p:sp>
      <p:sp>
        <p:nvSpPr>
          <p:cNvPr id="128" name="Google Shape;128;p23"/>
          <p:cNvSpPr txBox="1">
            <a:spLocks noGrp="1"/>
          </p:cNvSpPr>
          <p:nvPr>
            <p:ph type="sldNum" idx="12"/>
          </p:nvPr>
        </p:nvSpPr>
        <p:spPr>
          <a:xfrm>
            <a:off x="7812360" y="4767263"/>
            <a:ext cx="874440"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
              <a:t>3</a:t>
            </a:fld>
            <a:endParaRPr/>
          </a:p>
        </p:txBody>
      </p:sp>
      <p:sp>
        <p:nvSpPr>
          <p:cNvPr id="129" name="Google Shape;129;p23"/>
          <p:cNvSpPr txBox="1">
            <a:spLocks noGrp="1"/>
          </p:cNvSpPr>
          <p:nvPr>
            <p:ph type="ftr" idx="11"/>
          </p:nvPr>
        </p:nvSpPr>
        <p:spPr>
          <a:xfrm>
            <a:off x="2371936" y="4770416"/>
            <a:ext cx="4400128" cy="27384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 dirty="0"/>
              <a:t>SVECW | Department of Artificial Intelligence|Seminar</a:t>
            </a:r>
            <a:endParaRPr dirty="0"/>
          </a:p>
        </p:txBody>
      </p:sp>
      <p:sp>
        <p:nvSpPr>
          <p:cNvPr id="3" name="Text Placeholder 2">
            <a:extLst>
              <a:ext uri="{FF2B5EF4-FFF2-40B4-BE49-F238E27FC236}">
                <a16:creationId xmlns:a16="http://schemas.microsoft.com/office/drawing/2014/main" id="{5A0D78FF-E954-6050-503B-07F74986C847}"/>
              </a:ext>
            </a:extLst>
          </p:cNvPr>
          <p:cNvSpPr>
            <a:spLocks noGrp="1" noChangeArrowheads="1"/>
          </p:cNvSpPr>
          <p:nvPr>
            <p:ph type="body" idx="1"/>
          </p:nvPr>
        </p:nvSpPr>
        <p:spPr bwMode="auto">
          <a:xfrm>
            <a:off x="474662" y="681403"/>
            <a:ext cx="8453747"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14300" indent="0" algn="just">
              <a:buNone/>
            </a:pPr>
            <a:r>
              <a:rPr lang="en-US" sz="1100" b="1" dirty="0">
                <a:latin typeface="Times New Roman" panose="02020603050405020304" pitchFamily="18" charset="0"/>
                <a:cs typeface="Times New Roman" panose="02020603050405020304" pitchFamily="18" charset="0"/>
              </a:rPr>
              <a:t>Applications of Large Language Models in Education</a:t>
            </a:r>
          </a:p>
          <a:p>
            <a:pPr marL="114300" indent="0" algn="just">
              <a:buNone/>
            </a:pPr>
            <a:r>
              <a:rPr lang="en-US" sz="1100" dirty="0">
                <a:latin typeface="Times New Roman" panose="02020603050405020304" pitchFamily="18" charset="0"/>
                <a:cs typeface="Times New Roman" panose="02020603050405020304" pitchFamily="18" charset="0"/>
              </a:rPr>
              <a:t>Recent studies demonstrate the growing use of LLMs in intelligent tutoring systems, automated grading, student feedback generation, and interactive learning assistants. These systems improve accessibility and engagement but often suffer from factual inconsistencies due to parametric knowledge limitations.</a:t>
            </a:r>
          </a:p>
          <a:p>
            <a:pPr marL="114300" indent="0" algn="just">
              <a:buNone/>
            </a:pPr>
            <a:endParaRPr lang="en-US" sz="1100" dirty="0">
              <a:latin typeface="Times New Roman" panose="02020603050405020304" pitchFamily="18" charset="0"/>
              <a:cs typeface="Times New Roman" panose="02020603050405020304" pitchFamily="18" charset="0"/>
            </a:endParaRPr>
          </a:p>
          <a:p>
            <a:pPr marL="114300" indent="0" algn="just">
              <a:buNone/>
            </a:pPr>
            <a:r>
              <a:rPr lang="en-US" sz="1100" b="1" dirty="0">
                <a:latin typeface="Times New Roman" panose="02020603050405020304" pitchFamily="18" charset="0"/>
                <a:cs typeface="Times New Roman" panose="02020603050405020304" pitchFamily="18" charset="0"/>
              </a:rPr>
              <a:t>Limitations of Standalone LLM-Based Educational Tools</a:t>
            </a:r>
          </a:p>
          <a:p>
            <a:pPr marL="114300" indent="0" algn="just">
              <a:buNone/>
            </a:pPr>
            <a:r>
              <a:rPr lang="en-US" sz="1100" dirty="0">
                <a:latin typeface="Times New Roman" panose="02020603050405020304" pitchFamily="18" charset="0"/>
                <a:cs typeface="Times New Roman" panose="02020603050405020304" pitchFamily="18" charset="0"/>
              </a:rPr>
              <a:t>Traditional LLM-driven educational tools rely on pre-trained knowledge and lack dynamic access to updated academic materials. This may result in hallucinated responses, lack of syllabus alignment, and reduced trust in academic environments.</a:t>
            </a:r>
            <a:br>
              <a:rPr lang="en-US" sz="1100" dirty="0">
                <a:latin typeface="Times New Roman" panose="02020603050405020304" pitchFamily="18" charset="0"/>
                <a:cs typeface="Times New Roman" panose="02020603050405020304" pitchFamily="18" charset="0"/>
              </a:rPr>
            </a:br>
            <a:endParaRPr lang="en-US" sz="1100" dirty="0">
              <a:latin typeface="Times New Roman" panose="02020603050405020304" pitchFamily="18" charset="0"/>
              <a:cs typeface="Times New Roman" panose="02020603050405020304" pitchFamily="18" charset="0"/>
            </a:endParaRPr>
          </a:p>
          <a:p>
            <a:pPr marL="114300" indent="0" algn="just">
              <a:buNone/>
            </a:pPr>
            <a:r>
              <a:rPr lang="en-US" sz="1100" b="1" dirty="0">
                <a:latin typeface="Times New Roman" panose="02020603050405020304" pitchFamily="18" charset="0"/>
                <a:cs typeface="Times New Roman" panose="02020603050405020304" pitchFamily="18" charset="0"/>
              </a:rPr>
              <a:t>Integration of Retrieval-Augmented Generation</a:t>
            </a:r>
          </a:p>
          <a:p>
            <a:pPr marL="114300" indent="0" algn="just">
              <a:buNone/>
            </a:pPr>
            <a:r>
              <a:rPr lang="en-US" sz="1100" dirty="0">
                <a:latin typeface="Times New Roman" panose="02020603050405020304" pitchFamily="18" charset="0"/>
                <a:cs typeface="Times New Roman" panose="02020603050405020304" pitchFamily="18" charset="0"/>
              </a:rPr>
              <a:t>RAG-based educational systems incorporate external academic sources such as textbooks, lecture notes, and curated knowledge bases. This integration improves factual grounding, ensures contextual relevance, and supports curriculum-aligned responses.</a:t>
            </a:r>
          </a:p>
          <a:p>
            <a:pPr marL="114300" indent="0" algn="just">
              <a:buNone/>
            </a:pPr>
            <a:endParaRPr lang="en-US" sz="1100" dirty="0">
              <a:latin typeface="Times New Roman" panose="02020603050405020304" pitchFamily="18" charset="0"/>
              <a:cs typeface="Times New Roman" panose="02020603050405020304" pitchFamily="18" charset="0"/>
            </a:endParaRPr>
          </a:p>
          <a:p>
            <a:pPr marL="114300" indent="0" algn="just">
              <a:buNone/>
            </a:pPr>
            <a:r>
              <a:rPr lang="en-US" sz="1100" b="1" dirty="0">
                <a:latin typeface="Times New Roman" panose="02020603050405020304" pitchFamily="18" charset="0"/>
                <a:cs typeface="Times New Roman" panose="02020603050405020304" pitchFamily="18" charset="0"/>
              </a:rPr>
              <a:t>Emerging Use Cases in Educational Settings</a:t>
            </a:r>
          </a:p>
          <a:p>
            <a:pPr marL="114300" indent="0" algn="just">
              <a:buNone/>
            </a:pPr>
            <a:r>
              <a:rPr lang="en-US" sz="1100" dirty="0">
                <a:latin typeface="Times New Roman" panose="02020603050405020304" pitchFamily="18" charset="0"/>
                <a:cs typeface="Times New Roman" panose="02020603050405020304" pitchFamily="18" charset="0"/>
              </a:rPr>
              <a:t>RAG has been applied in AI tutors, adaptive learning assistants, automated assessment systems, and academic Q&amp;A platforms. These systems demonstrate improved accuracy and contextual awareness compared to standalone generative models.</a:t>
            </a:r>
            <a:br>
              <a:rPr lang="en-US" sz="1100" dirty="0">
                <a:latin typeface="Times New Roman" panose="02020603050405020304" pitchFamily="18" charset="0"/>
                <a:cs typeface="Times New Roman" panose="02020603050405020304" pitchFamily="18" charset="0"/>
              </a:rPr>
            </a:br>
            <a:endParaRPr lang="en-US" sz="1100" dirty="0">
              <a:latin typeface="Times New Roman" panose="02020603050405020304" pitchFamily="18" charset="0"/>
              <a:cs typeface="Times New Roman" panose="02020603050405020304" pitchFamily="18" charset="0"/>
            </a:endParaRPr>
          </a:p>
          <a:p>
            <a:pPr marL="114300" indent="0" algn="just">
              <a:buNone/>
            </a:pPr>
            <a:r>
              <a:rPr lang="en-US" sz="1100" b="1" dirty="0">
                <a:latin typeface="Times New Roman" panose="02020603050405020304" pitchFamily="18" charset="0"/>
                <a:cs typeface="Times New Roman" panose="02020603050405020304" pitchFamily="18" charset="0"/>
              </a:rPr>
              <a:t>Research Challenges and Future Trends</a:t>
            </a:r>
          </a:p>
          <a:p>
            <a:pPr marL="114300" indent="0" algn="just">
              <a:buNone/>
            </a:pPr>
            <a:r>
              <a:rPr lang="en-US" sz="1100" dirty="0">
                <a:latin typeface="Times New Roman" panose="02020603050405020304" pitchFamily="18" charset="0"/>
                <a:cs typeface="Times New Roman" panose="02020603050405020304" pitchFamily="18" charset="0"/>
              </a:rPr>
              <a:t>Despite promising results, challenges remain in knowledge indexing, retrieval efficiency, scalability, evaluation metrics, and ensuring fairness and transparency in educational AI systems.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5"/>
          <p:cNvSpPr txBox="1">
            <a:spLocks noGrp="1"/>
          </p:cNvSpPr>
          <p:nvPr>
            <p:ph type="title"/>
          </p:nvPr>
        </p:nvSpPr>
        <p:spPr>
          <a:xfrm>
            <a:off x="432128" y="116324"/>
            <a:ext cx="7919703" cy="36755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rgbClr val="C00000"/>
              </a:buClr>
              <a:buSzPct val="100000"/>
              <a:buFont typeface="Calibri"/>
              <a:buNone/>
            </a:pPr>
            <a:r>
              <a:rPr lang="en-IN" dirty="0">
                <a:latin typeface="Times New Roman" panose="02020603050405020304" pitchFamily="18" charset="0"/>
                <a:cs typeface="Times New Roman" panose="02020603050405020304" pitchFamily="18" charset="0"/>
              </a:rPr>
              <a:t>Dataset Collection</a:t>
            </a:r>
          </a:p>
        </p:txBody>
      </p:sp>
      <p:sp>
        <p:nvSpPr>
          <p:cNvPr id="146" name="Google Shape;146;p25"/>
          <p:cNvSpPr txBox="1">
            <a:spLocks noGrp="1"/>
          </p:cNvSpPr>
          <p:nvPr>
            <p:ph type="dt" idx="10"/>
          </p:nvPr>
        </p:nvSpPr>
        <p:spPr>
          <a:xfrm>
            <a:off x="457200" y="4767263"/>
            <a:ext cx="1090464" cy="27384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 dirty="0"/>
              <a:t>18-02-2026</a:t>
            </a:r>
          </a:p>
        </p:txBody>
      </p:sp>
      <p:sp>
        <p:nvSpPr>
          <p:cNvPr id="147" name="Google Shape;147;p25"/>
          <p:cNvSpPr txBox="1">
            <a:spLocks noGrp="1"/>
          </p:cNvSpPr>
          <p:nvPr>
            <p:ph type="sldNum" idx="12"/>
          </p:nvPr>
        </p:nvSpPr>
        <p:spPr>
          <a:xfrm>
            <a:off x="7812360" y="4767263"/>
            <a:ext cx="874440"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 smtClean="0"/>
              <a:t>4</a:t>
            </a:fld>
            <a:endParaRPr lang="en"/>
          </a:p>
        </p:txBody>
      </p:sp>
      <p:sp>
        <p:nvSpPr>
          <p:cNvPr id="148" name="Google Shape;148;p25"/>
          <p:cNvSpPr txBox="1">
            <a:spLocks noGrp="1"/>
          </p:cNvSpPr>
          <p:nvPr>
            <p:ph type="ftr" idx="11"/>
          </p:nvPr>
        </p:nvSpPr>
        <p:spPr>
          <a:xfrm>
            <a:off x="2371936" y="4770416"/>
            <a:ext cx="4400128" cy="27384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SVECW | Department of Artificial Intelligence| Seminar</a:t>
            </a:r>
          </a:p>
        </p:txBody>
      </p:sp>
      <p:sp>
        <p:nvSpPr>
          <p:cNvPr id="2" name="Text Placeholder 1">
            <a:extLst>
              <a:ext uri="{FF2B5EF4-FFF2-40B4-BE49-F238E27FC236}">
                <a16:creationId xmlns:a16="http://schemas.microsoft.com/office/drawing/2014/main" id="{E517D5A0-0430-916F-5145-DD05A1304657}"/>
              </a:ext>
            </a:extLst>
          </p:cNvPr>
          <p:cNvSpPr>
            <a:spLocks noGrp="1" noChangeArrowheads="1"/>
          </p:cNvSpPr>
          <p:nvPr>
            <p:ph type="body" idx="1"/>
          </p:nvPr>
        </p:nvSpPr>
        <p:spPr bwMode="auto">
          <a:xfrm>
            <a:off x="506575" y="1062801"/>
            <a:ext cx="7770807" cy="2852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14300" indent="0" algn="just">
              <a:buNone/>
            </a:pPr>
            <a:r>
              <a:rPr lang="en-US" sz="1600" dirty="0">
                <a:latin typeface="Times New Roman" panose="02020603050405020304" pitchFamily="18" charset="0"/>
                <a:cs typeface="Times New Roman" panose="02020603050405020304" pitchFamily="18" charset="0"/>
              </a:rPr>
              <a:t>The surveyed RAG-based educational systems utilize domain-specific academic data sources to support reliable content generation. These include digital textbooks, lecture notes, scholarly articles, curriculum-aligned knowledge bases, and institutional learning </a:t>
            </a:r>
            <a:r>
              <a:rPr lang="en-US" sz="1600" dirty="0" err="1">
                <a:latin typeface="Times New Roman" panose="02020603050405020304" pitchFamily="18" charset="0"/>
                <a:cs typeface="Times New Roman" panose="02020603050405020304" pitchFamily="18" charset="0"/>
              </a:rPr>
              <a:t>materials.Rather</a:t>
            </a:r>
            <a:r>
              <a:rPr lang="en-US" sz="1600" dirty="0">
                <a:latin typeface="Times New Roman" panose="02020603050405020304" pitchFamily="18" charset="0"/>
                <a:cs typeface="Times New Roman" panose="02020603050405020304" pitchFamily="18" charset="0"/>
              </a:rPr>
              <a:t> than retraining large language models on task-specific datasets, most systems rely on retrieval from curated academic repositories. The external knowledge sources are indexed using dense embeddings to enable semantic similarity </a:t>
            </a:r>
            <a:r>
              <a:rPr lang="en-US" sz="1600" dirty="0" err="1">
                <a:latin typeface="Times New Roman" panose="02020603050405020304" pitchFamily="18" charset="0"/>
                <a:cs typeface="Times New Roman" panose="02020603050405020304" pitchFamily="18" charset="0"/>
              </a:rPr>
              <a:t>search.Educational</a:t>
            </a:r>
            <a:r>
              <a:rPr lang="en-US" sz="1600" dirty="0">
                <a:latin typeface="Times New Roman" panose="02020603050405020304" pitchFamily="18" charset="0"/>
                <a:cs typeface="Times New Roman" panose="02020603050405020304" pitchFamily="18" charset="0"/>
              </a:rPr>
              <a:t> datasets often include question-answer pairs, short-answer grading datasets, interactive tutoring logs, and structured course materials. These resources allow RAG systems to provide syllabus-aligned and contextually relevant </a:t>
            </a:r>
            <a:r>
              <a:rPr lang="en-US" sz="1600" dirty="0" err="1">
                <a:latin typeface="Times New Roman" panose="02020603050405020304" pitchFamily="18" charset="0"/>
                <a:cs typeface="Times New Roman" panose="02020603050405020304" pitchFamily="18" charset="0"/>
              </a:rPr>
              <a:t>responses.By</a:t>
            </a:r>
            <a:r>
              <a:rPr lang="en-US" sz="1600" dirty="0">
                <a:latin typeface="Times New Roman" panose="02020603050405020304" pitchFamily="18" charset="0"/>
                <a:cs typeface="Times New Roman" panose="02020603050405020304" pitchFamily="18" charset="0"/>
              </a:rPr>
              <a:t> separating knowledge storage from language generation, retrieval-based approaches reduce the need for large labeled training datasets while maintaining academic reliability.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6"/>
          <p:cNvSpPr txBox="1">
            <a:spLocks noGrp="1"/>
          </p:cNvSpPr>
          <p:nvPr>
            <p:ph type="title"/>
          </p:nvPr>
        </p:nvSpPr>
        <p:spPr>
          <a:xfrm>
            <a:off x="432128" y="116324"/>
            <a:ext cx="7919703" cy="36755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rgbClr val="C00000"/>
              </a:buClr>
              <a:buSzPct val="100000"/>
              <a:buFont typeface="Calibri"/>
              <a:buNone/>
            </a:pPr>
            <a:r>
              <a:rPr lang="en" dirty="0">
                <a:latin typeface="Times New Roman" panose="02020603050405020304" pitchFamily="18" charset="0"/>
                <a:cs typeface="Times New Roman" panose="02020603050405020304" pitchFamily="18" charset="0"/>
              </a:rPr>
              <a:t>Methodology</a:t>
            </a:r>
            <a:endParaRPr dirty="0">
              <a:latin typeface="Times New Roman" panose="02020603050405020304" pitchFamily="18" charset="0"/>
              <a:cs typeface="Times New Roman" panose="02020603050405020304" pitchFamily="18" charset="0"/>
            </a:endParaRPr>
          </a:p>
        </p:txBody>
      </p:sp>
      <p:sp>
        <p:nvSpPr>
          <p:cNvPr id="156" name="Google Shape;156;p26"/>
          <p:cNvSpPr txBox="1">
            <a:spLocks noGrp="1"/>
          </p:cNvSpPr>
          <p:nvPr>
            <p:ph type="dt" idx="10"/>
          </p:nvPr>
        </p:nvSpPr>
        <p:spPr>
          <a:xfrm>
            <a:off x="457200" y="4767263"/>
            <a:ext cx="1090464" cy="27384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 dirty="0"/>
              <a:t>18-02-2026</a:t>
            </a:r>
            <a:endParaRPr dirty="0"/>
          </a:p>
        </p:txBody>
      </p:sp>
      <p:sp>
        <p:nvSpPr>
          <p:cNvPr id="157" name="Google Shape;157;p26"/>
          <p:cNvSpPr txBox="1">
            <a:spLocks noGrp="1"/>
          </p:cNvSpPr>
          <p:nvPr>
            <p:ph type="sldNum" idx="12"/>
          </p:nvPr>
        </p:nvSpPr>
        <p:spPr>
          <a:xfrm>
            <a:off x="7812360" y="4767263"/>
            <a:ext cx="874440"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
              <a:t>5</a:t>
            </a:fld>
            <a:endParaRPr/>
          </a:p>
        </p:txBody>
      </p:sp>
      <p:sp>
        <p:nvSpPr>
          <p:cNvPr id="158" name="Google Shape;158;p26"/>
          <p:cNvSpPr txBox="1">
            <a:spLocks noGrp="1"/>
          </p:cNvSpPr>
          <p:nvPr>
            <p:ph type="ftr" idx="11"/>
          </p:nvPr>
        </p:nvSpPr>
        <p:spPr>
          <a:xfrm>
            <a:off x="2371936" y="4770416"/>
            <a:ext cx="4400128" cy="27384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 dirty="0"/>
              <a:t>SVECW | Department of Artificial Intelligence| Seminar</a:t>
            </a:r>
            <a:endParaRPr dirty="0"/>
          </a:p>
        </p:txBody>
      </p:sp>
      <p:sp>
        <p:nvSpPr>
          <p:cNvPr id="5" name="Rectangle 4">
            <a:extLst>
              <a:ext uri="{FF2B5EF4-FFF2-40B4-BE49-F238E27FC236}">
                <a16:creationId xmlns:a16="http://schemas.microsoft.com/office/drawing/2014/main" id="{42DCD5C4-8372-B533-058B-022245171B7F}"/>
              </a:ext>
            </a:extLst>
          </p:cNvPr>
          <p:cNvSpPr>
            <a:spLocks noChangeArrowheads="1"/>
          </p:cNvSpPr>
          <p:nvPr/>
        </p:nvSpPr>
        <p:spPr bwMode="auto">
          <a:xfrm>
            <a:off x="0" y="-323165"/>
            <a:ext cx="2648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Text Placeholder 1">
            <a:extLst>
              <a:ext uri="{FF2B5EF4-FFF2-40B4-BE49-F238E27FC236}">
                <a16:creationId xmlns:a16="http://schemas.microsoft.com/office/drawing/2014/main" id="{A854D5FF-493C-896C-8679-8610D2E9BCC7}"/>
              </a:ext>
            </a:extLst>
          </p:cNvPr>
          <p:cNvSpPr>
            <a:spLocks noGrp="1" noChangeArrowheads="1"/>
          </p:cNvSpPr>
          <p:nvPr>
            <p:ph type="body" idx="1"/>
          </p:nvPr>
        </p:nvSpPr>
        <p:spPr bwMode="auto">
          <a:xfrm>
            <a:off x="197169" y="737974"/>
            <a:ext cx="8389620" cy="4103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14300" indent="0">
              <a:buNone/>
            </a:pPr>
            <a:r>
              <a:rPr lang="en-US" sz="1300" b="1" dirty="0">
                <a:latin typeface="Times New Roman" panose="02020603050405020304" pitchFamily="18" charset="0"/>
                <a:cs typeface="Times New Roman" panose="02020603050405020304" pitchFamily="18" charset="0"/>
              </a:rPr>
              <a:t>Pre-trained Language Model Foundation</a:t>
            </a:r>
          </a:p>
          <a:p>
            <a:pPr marL="114300" indent="0">
              <a:buNone/>
            </a:pPr>
            <a:r>
              <a:rPr lang="en-US" sz="1300" dirty="0">
                <a:latin typeface="Times New Roman" panose="02020603050405020304" pitchFamily="18" charset="0"/>
                <a:cs typeface="Times New Roman" panose="02020603050405020304" pitchFamily="18" charset="0"/>
              </a:rPr>
              <a:t>Most RAG-based educational systems utilize large pre-trained transformer models as the base generation engine. These models provide strong natural language understanding and enable interactive responses in tutoring and academic support tasks.</a:t>
            </a:r>
            <a:br>
              <a:rPr lang="en-US" sz="1300" dirty="0">
                <a:latin typeface="Times New Roman" panose="02020603050405020304" pitchFamily="18" charset="0"/>
                <a:cs typeface="Times New Roman" panose="02020603050405020304" pitchFamily="18" charset="0"/>
              </a:rPr>
            </a:br>
            <a:endParaRPr lang="en-US" sz="1300" dirty="0">
              <a:latin typeface="Times New Roman" panose="02020603050405020304" pitchFamily="18" charset="0"/>
              <a:cs typeface="Times New Roman" panose="02020603050405020304" pitchFamily="18" charset="0"/>
            </a:endParaRPr>
          </a:p>
          <a:p>
            <a:pPr marL="114300" indent="0">
              <a:buNone/>
            </a:pPr>
            <a:r>
              <a:rPr lang="en-US" sz="1300" b="1" dirty="0">
                <a:latin typeface="Times New Roman" panose="02020603050405020304" pitchFamily="18" charset="0"/>
                <a:cs typeface="Times New Roman" panose="02020603050405020304" pitchFamily="18" charset="0"/>
              </a:rPr>
              <a:t>Educational Domain Adaptation</a:t>
            </a:r>
          </a:p>
          <a:p>
            <a:pPr marL="114300" indent="0">
              <a:buNone/>
            </a:pPr>
            <a:r>
              <a:rPr lang="en-US" sz="1300" dirty="0">
                <a:latin typeface="Times New Roman" panose="02020603050405020304" pitchFamily="18" charset="0"/>
                <a:cs typeface="Times New Roman" panose="02020603050405020304" pitchFamily="18" charset="0"/>
              </a:rPr>
              <a:t>To ensure syllabus alignment, systems are adapted to specific educational domains such as mathematics, science, or programming. This adaptation focuses on aligning responses with curriculum standards and structured academic content.</a:t>
            </a:r>
            <a:br>
              <a:rPr lang="en-US" sz="1300" dirty="0">
                <a:latin typeface="Times New Roman" panose="02020603050405020304" pitchFamily="18" charset="0"/>
                <a:cs typeface="Times New Roman" panose="02020603050405020304" pitchFamily="18" charset="0"/>
              </a:rPr>
            </a:br>
            <a:endParaRPr lang="en-US" sz="1300" dirty="0">
              <a:latin typeface="Times New Roman" panose="02020603050405020304" pitchFamily="18" charset="0"/>
              <a:cs typeface="Times New Roman" panose="02020603050405020304" pitchFamily="18" charset="0"/>
            </a:endParaRPr>
          </a:p>
          <a:p>
            <a:pPr marL="114300" indent="0">
              <a:buNone/>
            </a:pPr>
            <a:r>
              <a:rPr lang="en-US" sz="1300" b="1" dirty="0">
                <a:latin typeface="Times New Roman" panose="02020603050405020304" pitchFamily="18" charset="0"/>
                <a:cs typeface="Times New Roman" panose="02020603050405020304" pitchFamily="18" charset="0"/>
              </a:rPr>
              <a:t>Retrieval-Augmented Generation Framework</a:t>
            </a:r>
          </a:p>
          <a:p>
            <a:pPr marL="114300" indent="0">
              <a:buNone/>
            </a:pPr>
            <a:r>
              <a:rPr lang="en-US" sz="1300" dirty="0">
                <a:latin typeface="Times New Roman" panose="02020603050405020304" pitchFamily="18" charset="0"/>
                <a:cs typeface="Times New Roman" panose="02020603050405020304" pitchFamily="18" charset="0"/>
              </a:rPr>
              <a:t>The surveyed approaches integrate neural retrieval mechanisms to fetch relevant academic documents before response generation. Retrieved content is passed as contextual input to the language model, improving factual grounding and reducing hallucination.</a:t>
            </a:r>
            <a:br>
              <a:rPr lang="en-US" sz="1300" dirty="0">
                <a:latin typeface="Times New Roman" panose="02020603050405020304" pitchFamily="18" charset="0"/>
                <a:cs typeface="Times New Roman" panose="02020603050405020304" pitchFamily="18" charset="0"/>
              </a:rPr>
            </a:br>
            <a:endParaRPr lang="en-US" sz="1300" dirty="0">
              <a:latin typeface="Times New Roman" panose="02020603050405020304" pitchFamily="18" charset="0"/>
              <a:cs typeface="Times New Roman" panose="02020603050405020304" pitchFamily="18" charset="0"/>
            </a:endParaRPr>
          </a:p>
          <a:p>
            <a:pPr marL="114300" indent="0">
              <a:buNone/>
            </a:pPr>
            <a:r>
              <a:rPr lang="en-US" sz="1300" b="1" dirty="0">
                <a:latin typeface="Times New Roman" panose="02020603050405020304" pitchFamily="18" charset="0"/>
                <a:cs typeface="Times New Roman" panose="02020603050405020304" pitchFamily="18" charset="0"/>
              </a:rPr>
              <a:t>Architectural Variants in Educational RAG</a:t>
            </a:r>
          </a:p>
          <a:p>
            <a:pPr marL="114300" indent="0">
              <a:buNone/>
            </a:pPr>
            <a:r>
              <a:rPr lang="en-US" sz="1300" dirty="0">
                <a:latin typeface="Times New Roman" panose="02020603050405020304" pitchFamily="18" charset="0"/>
                <a:cs typeface="Times New Roman" panose="02020603050405020304" pitchFamily="18" charset="0"/>
              </a:rPr>
              <a:t>Different implementations vary in retrieval techniques, document chunking strategies, context fusion mechanisms, and evaluation metrics. Some systems prioritize response accuracy, while others focus on personalization and adaptive feedback.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746C8-279D-F3FC-ACA9-87649CFAC91F}"/>
              </a:ext>
            </a:extLst>
          </p:cNvPr>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Methodology</a:t>
            </a:r>
          </a:p>
        </p:txBody>
      </p:sp>
      <p:sp>
        <p:nvSpPr>
          <p:cNvPr id="3" name="Text Placeholder 2">
            <a:extLst>
              <a:ext uri="{FF2B5EF4-FFF2-40B4-BE49-F238E27FC236}">
                <a16:creationId xmlns:a16="http://schemas.microsoft.com/office/drawing/2014/main" id="{1E3921E2-8CAD-A46F-8C65-3B9C1585CC8B}"/>
              </a:ext>
            </a:extLst>
          </p:cNvPr>
          <p:cNvSpPr>
            <a:spLocks noGrp="1"/>
          </p:cNvSpPr>
          <p:nvPr>
            <p:ph type="body" idx="1"/>
          </p:nvPr>
        </p:nvSpPr>
        <p:spPr>
          <a:xfrm>
            <a:off x="432128" y="819712"/>
            <a:ext cx="8229600" cy="3899687"/>
          </a:xfrm>
        </p:spPr>
        <p:txBody>
          <a:bodyPr>
            <a:normAutofit fontScale="77500" lnSpcReduction="20000"/>
          </a:bodyPr>
          <a:lstStyle/>
          <a:p>
            <a:pPr marL="114300" indent="0">
              <a:buNone/>
            </a:pPr>
            <a:r>
              <a:rPr lang="en-US" sz="1600" b="1" dirty="0">
                <a:latin typeface="Times New Roman" panose="02020603050405020304" pitchFamily="18" charset="0"/>
                <a:cs typeface="Times New Roman" panose="02020603050405020304" pitchFamily="18" charset="0"/>
              </a:rPr>
              <a:t>External Academic Knowledge Integration</a:t>
            </a:r>
          </a:p>
          <a:p>
            <a:pPr marL="114300" indent="0">
              <a:buNone/>
            </a:pPr>
            <a:r>
              <a:rPr lang="en-US" sz="1600" dirty="0">
                <a:latin typeface="Times New Roman" panose="02020603050405020304" pitchFamily="18" charset="0"/>
                <a:cs typeface="Times New Roman" panose="02020603050405020304" pitchFamily="18" charset="0"/>
              </a:rPr>
              <a:t>Educational RAG systems retrieve content from curated academic repositories such as textbooks, lecture notes, and institutional knowledge bases. This external grounding improves factual correctness and ensures curriculum-aligned responses.</a:t>
            </a:r>
          </a:p>
          <a:p>
            <a:pPr marL="114300" indent="0">
              <a:buNone/>
            </a:pPr>
            <a:endParaRPr lang="en-US" sz="1600" dirty="0">
              <a:latin typeface="Times New Roman" panose="02020603050405020304" pitchFamily="18" charset="0"/>
              <a:cs typeface="Times New Roman" panose="02020603050405020304" pitchFamily="18" charset="0"/>
            </a:endParaRPr>
          </a:p>
          <a:p>
            <a:pPr marL="114300" indent="0">
              <a:buNone/>
            </a:pPr>
            <a:r>
              <a:rPr lang="en-US" sz="1600" b="1" dirty="0">
                <a:latin typeface="Times New Roman" panose="02020603050405020304" pitchFamily="18" charset="0"/>
                <a:cs typeface="Times New Roman" panose="02020603050405020304" pitchFamily="18" charset="0"/>
              </a:rPr>
              <a:t>Context Selection and Management</a:t>
            </a:r>
          </a:p>
          <a:p>
            <a:pPr marL="114300" indent="0">
              <a:buNone/>
            </a:pPr>
            <a:r>
              <a:rPr lang="en-US" sz="1600" dirty="0">
                <a:latin typeface="Times New Roman" panose="02020603050405020304" pitchFamily="18" charset="0"/>
                <a:cs typeface="Times New Roman" panose="02020603050405020304" pitchFamily="18" charset="0"/>
              </a:rPr>
              <a:t>Only the most relevant retrieved documents are provided to the language model. Effective filtering and chunking strategies help maintain response clarity while preventing irrelevant information from influencing generation.</a:t>
            </a:r>
          </a:p>
          <a:p>
            <a:pPr marL="114300" indent="0">
              <a:buNone/>
            </a:pPr>
            <a:endParaRPr lang="en-US" sz="1600" dirty="0">
              <a:latin typeface="Times New Roman" panose="02020603050405020304" pitchFamily="18" charset="0"/>
              <a:cs typeface="Times New Roman" panose="02020603050405020304" pitchFamily="18" charset="0"/>
            </a:endParaRPr>
          </a:p>
          <a:p>
            <a:pPr marL="114300" indent="0">
              <a:buNone/>
            </a:pPr>
            <a:r>
              <a:rPr lang="en-US" sz="1600" b="1" dirty="0">
                <a:latin typeface="Times New Roman" panose="02020603050405020304" pitchFamily="18" charset="0"/>
                <a:cs typeface="Times New Roman" panose="02020603050405020304" pitchFamily="18" charset="0"/>
              </a:rPr>
              <a:t>Evaluation in Educational Settings</a:t>
            </a:r>
          </a:p>
          <a:p>
            <a:pPr marL="114300" indent="0">
              <a:buNone/>
            </a:pPr>
            <a:r>
              <a:rPr lang="en-US" sz="1600" dirty="0">
                <a:latin typeface="Times New Roman" panose="02020603050405020304" pitchFamily="18" charset="0"/>
                <a:cs typeface="Times New Roman" panose="02020603050405020304" pitchFamily="18" charset="0"/>
              </a:rPr>
              <a:t>Surveyed studies evaluate RAG systems using metrics such as answer relevance, factual accuracy, grading consistency, and student satisfaction. Comparative analysis with standalone LLMs demonstrates improvements in reliability and trust.</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p>
            <a:pPr marL="114300" indent="0">
              <a:buNone/>
            </a:pPr>
            <a:r>
              <a:rPr lang="en-US" sz="1600" b="1" dirty="0">
                <a:latin typeface="Times New Roman" panose="02020603050405020304" pitchFamily="18" charset="0"/>
                <a:cs typeface="Times New Roman" panose="02020603050405020304" pitchFamily="18" charset="0"/>
              </a:rPr>
              <a:t>Personalization and Adaptive Support</a:t>
            </a:r>
          </a:p>
          <a:p>
            <a:pPr marL="114300" indent="0">
              <a:buNone/>
            </a:pPr>
            <a:r>
              <a:rPr lang="en-US" sz="1600" dirty="0">
                <a:latin typeface="Times New Roman" panose="02020603050405020304" pitchFamily="18" charset="0"/>
                <a:cs typeface="Times New Roman" panose="02020603050405020304" pitchFamily="18" charset="0"/>
              </a:rPr>
              <a:t>Some RAG-based educational systems incorporate student performance data to provide adaptive explanations and tailored feedback. This enhances learning effectiveness and engagement.</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p>
            <a:pPr marL="114300" indent="0">
              <a:buNone/>
            </a:pPr>
            <a:r>
              <a:rPr lang="en-US" sz="1600" b="1" dirty="0">
                <a:latin typeface="Times New Roman" panose="02020603050405020304" pitchFamily="18" charset="0"/>
                <a:cs typeface="Times New Roman" panose="02020603050405020304" pitchFamily="18" charset="0"/>
              </a:rPr>
              <a:t>Scalability and Deployment Challenge</a:t>
            </a:r>
          </a:p>
          <a:p>
            <a:pPr marL="114300" indent="0">
              <a:buNone/>
            </a:pPr>
            <a:r>
              <a:rPr lang="en-US" sz="1600" dirty="0">
                <a:latin typeface="Times New Roman" panose="02020603050405020304" pitchFamily="18" charset="0"/>
                <a:cs typeface="Times New Roman" panose="02020603050405020304" pitchFamily="18" charset="0"/>
              </a:rPr>
              <a:t>Challenges include maintaining efficient retrieval for large educational corpora, ensuring fairness in automated assessment, and designing transparent systems that support educators rather than replace them.</a:t>
            </a:r>
          </a:p>
        </p:txBody>
      </p:sp>
      <p:sp>
        <p:nvSpPr>
          <p:cNvPr id="6" name="TextBox 5">
            <a:extLst>
              <a:ext uri="{FF2B5EF4-FFF2-40B4-BE49-F238E27FC236}">
                <a16:creationId xmlns:a16="http://schemas.microsoft.com/office/drawing/2014/main" id="{2683E2B9-D8D7-CAFF-FCE5-4FE0D01CB416}"/>
              </a:ext>
            </a:extLst>
          </p:cNvPr>
          <p:cNvSpPr txBox="1"/>
          <p:nvPr/>
        </p:nvSpPr>
        <p:spPr>
          <a:xfrm>
            <a:off x="432128" y="4719399"/>
            <a:ext cx="1396672" cy="276999"/>
          </a:xfrm>
          <a:prstGeom prst="rect">
            <a:avLst/>
          </a:prstGeom>
          <a:noFill/>
        </p:spPr>
        <p:txBody>
          <a:bodyPr wrap="square" rtlCol="0">
            <a:spAutoFit/>
          </a:bodyPr>
          <a:lstStyle/>
          <a:p>
            <a:pPr marL="0" lvl="0" indent="0" algn="l" rtl="0">
              <a:spcBef>
                <a:spcPts val="0"/>
              </a:spcBef>
              <a:spcAft>
                <a:spcPts val="0"/>
              </a:spcAft>
              <a:buNone/>
            </a:pPr>
            <a:r>
              <a:rPr lang="en" sz="120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18-02-2026</a:t>
            </a:r>
          </a:p>
        </p:txBody>
      </p:sp>
      <p:sp>
        <p:nvSpPr>
          <p:cNvPr id="8" name="TextBox 7">
            <a:extLst>
              <a:ext uri="{FF2B5EF4-FFF2-40B4-BE49-F238E27FC236}">
                <a16:creationId xmlns:a16="http://schemas.microsoft.com/office/drawing/2014/main" id="{7932BA45-FC3B-A395-D6EC-E1041B320822}"/>
              </a:ext>
            </a:extLst>
          </p:cNvPr>
          <p:cNvSpPr txBox="1"/>
          <p:nvPr/>
        </p:nvSpPr>
        <p:spPr>
          <a:xfrm>
            <a:off x="2868930" y="4750176"/>
            <a:ext cx="4617720" cy="492443"/>
          </a:xfrm>
          <a:prstGeom prst="rect">
            <a:avLst/>
          </a:prstGeom>
          <a:noFill/>
        </p:spPr>
        <p:txBody>
          <a:bodyPr wrap="square" rtlCol="0">
            <a:spAutoFit/>
          </a:bodyPr>
          <a:lstStyle/>
          <a:p>
            <a:r>
              <a:rPr lang="en-US" sz="120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SVECW | Department of Artificial Intelligence| Seminar</a:t>
            </a:r>
          </a:p>
          <a:p>
            <a:endParaRPr lang="en-IN" dirty="0"/>
          </a:p>
        </p:txBody>
      </p:sp>
    </p:spTree>
    <p:extLst>
      <p:ext uri="{BB962C8B-B14F-4D97-AF65-F5344CB8AC3E}">
        <p14:creationId xmlns:p14="http://schemas.microsoft.com/office/powerpoint/2010/main" val="32598532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4" name="Google Shape;164;p27"/>
          <p:cNvSpPr txBox="1">
            <a:spLocks noGrp="1"/>
          </p:cNvSpPr>
          <p:nvPr>
            <p:ph type="title"/>
          </p:nvPr>
        </p:nvSpPr>
        <p:spPr>
          <a:xfrm>
            <a:off x="251520" y="116324"/>
            <a:ext cx="8100300" cy="3675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IN" dirty="0">
                <a:latin typeface="Times New Roman" panose="02020603050405020304" pitchFamily="18" charset="0"/>
                <a:cs typeface="Times New Roman" panose="02020603050405020304" pitchFamily="18" charset="0"/>
              </a:rPr>
              <a:t>W</a:t>
            </a:r>
            <a:r>
              <a:rPr lang="en" dirty="0">
                <a:latin typeface="Times New Roman" panose="02020603050405020304" pitchFamily="18" charset="0"/>
                <a:cs typeface="Times New Roman" panose="02020603050405020304" pitchFamily="18" charset="0"/>
              </a:rPr>
              <a:t>orkflow diagram</a:t>
            </a:r>
            <a:endParaRPr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85CE04D-06D4-2E8C-4D46-695FAD8CB94E}"/>
              </a:ext>
            </a:extLst>
          </p:cNvPr>
          <p:cNvPicPr>
            <a:picLocks noChangeAspect="1"/>
          </p:cNvPicPr>
          <p:nvPr/>
        </p:nvPicPr>
        <p:blipFill>
          <a:blip r:embed="rId3"/>
          <a:stretch>
            <a:fillRect/>
          </a:stretch>
        </p:blipFill>
        <p:spPr>
          <a:xfrm>
            <a:off x="714375" y="936702"/>
            <a:ext cx="7715250" cy="409047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30"/>
          <p:cNvSpPr txBox="1">
            <a:spLocks noGrp="1"/>
          </p:cNvSpPr>
          <p:nvPr>
            <p:ph type="title"/>
          </p:nvPr>
        </p:nvSpPr>
        <p:spPr>
          <a:xfrm>
            <a:off x="432128" y="116324"/>
            <a:ext cx="7919700" cy="36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C00000"/>
              </a:buClr>
              <a:buSzPct val="100000"/>
              <a:buFont typeface="Calibri"/>
              <a:buNone/>
            </a:pPr>
            <a:r>
              <a:rPr lang="en" dirty="0">
                <a:latin typeface="Times New Roman" panose="02020603050405020304" pitchFamily="18" charset="0"/>
                <a:cs typeface="Times New Roman" panose="02020603050405020304" pitchFamily="18" charset="0"/>
              </a:rPr>
              <a:t>Results</a:t>
            </a:r>
            <a:endParaRPr dirty="0">
              <a:latin typeface="Times New Roman" panose="02020603050405020304" pitchFamily="18" charset="0"/>
              <a:cs typeface="Times New Roman" panose="02020603050405020304" pitchFamily="18" charset="0"/>
            </a:endParaRPr>
          </a:p>
        </p:txBody>
      </p:sp>
      <p:sp>
        <p:nvSpPr>
          <p:cNvPr id="186" name="Google Shape;186;p30"/>
          <p:cNvSpPr txBox="1">
            <a:spLocks noGrp="1"/>
          </p:cNvSpPr>
          <p:nvPr>
            <p:ph type="dt" idx="10"/>
          </p:nvPr>
        </p:nvSpPr>
        <p:spPr>
          <a:xfrm>
            <a:off x="457200" y="4767263"/>
            <a:ext cx="1090464" cy="27384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 dirty="0"/>
              <a:t>18-02-2026</a:t>
            </a:r>
            <a:endParaRPr dirty="0"/>
          </a:p>
        </p:txBody>
      </p:sp>
      <p:sp>
        <p:nvSpPr>
          <p:cNvPr id="187" name="Google Shape;187;p30"/>
          <p:cNvSpPr txBox="1">
            <a:spLocks noGrp="1"/>
          </p:cNvSpPr>
          <p:nvPr>
            <p:ph type="sldNum" idx="12"/>
          </p:nvPr>
        </p:nvSpPr>
        <p:spPr>
          <a:xfrm>
            <a:off x="7812360" y="4767263"/>
            <a:ext cx="874440"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
              <a:t>8</a:t>
            </a:fld>
            <a:endParaRPr/>
          </a:p>
        </p:txBody>
      </p:sp>
      <p:sp>
        <p:nvSpPr>
          <p:cNvPr id="188" name="Google Shape;188;p30"/>
          <p:cNvSpPr txBox="1">
            <a:spLocks noGrp="1"/>
          </p:cNvSpPr>
          <p:nvPr>
            <p:ph type="ftr" idx="11"/>
          </p:nvPr>
        </p:nvSpPr>
        <p:spPr>
          <a:xfrm>
            <a:off x="2371936" y="4770416"/>
            <a:ext cx="4400128" cy="27384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 dirty="0"/>
              <a:t>SVECW | Department of Artificial Intelligence| Seminar</a:t>
            </a:r>
            <a:endParaRPr dirty="0"/>
          </a:p>
        </p:txBody>
      </p:sp>
      <p:sp>
        <p:nvSpPr>
          <p:cNvPr id="2" name="Text Placeholder 1">
            <a:extLst>
              <a:ext uri="{FF2B5EF4-FFF2-40B4-BE49-F238E27FC236}">
                <a16:creationId xmlns:a16="http://schemas.microsoft.com/office/drawing/2014/main" id="{30B5CFD1-F883-78C3-FE8F-A6D306B617AB}"/>
              </a:ext>
            </a:extLst>
          </p:cNvPr>
          <p:cNvSpPr>
            <a:spLocks noGrp="1" noChangeArrowheads="1"/>
          </p:cNvSpPr>
          <p:nvPr>
            <p:ph type="body" idx="1"/>
          </p:nvPr>
        </p:nvSpPr>
        <p:spPr bwMode="auto">
          <a:xfrm>
            <a:off x="457200" y="843914"/>
            <a:ext cx="7995424"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Surveyed studies demonstrate that RAG-based educational systems significantly improve factual grounding compared to standalone LLM-based tools.</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of external academic knowledge enhances syllabus alignment and response reliability in tutoring systems.</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RAG-based grading and assessment tools show improved consistency in evaluating short-answer responses.</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Educational chatbots using retrieval mechanisms reduce hallucination and increase student trust.</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Adaptive tutoring systems leveraging RAG provide more context-aware and personalized feedback.</a:t>
            </a:r>
          </a:p>
          <a:p>
            <a:pPr marL="285750" marR="0" lvl="0" indent="-28575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Key challenges identified include retrieval efficiency, evaluation standardization, and ensuring fairness in automated academic support systems.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2"/>
          <p:cNvSpPr txBox="1">
            <a:spLocks noGrp="1"/>
          </p:cNvSpPr>
          <p:nvPr>
            <p:ph type="title"/>
          </p:nvPr>
        </p:nvSpPr>
        <p:spPr>
          <a:xfrm>
            <a:off x="432128" y="116324"/>
            <a:ext cx="7919700" cy="3675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rgbClr val="C00000"/>
              </a:buClr>
              <a:buSzPct val="100000"/>
              <a:buFont typeface="Calibri"/>
              <a:buNone/>
            </a:pPr>
            <a:r>
              <a:rPr lang="en" dirty="0">
                <a:latin typeface="Times New Roman" panose="02020603050405020304" pitchFamily="18" charset="0"/>
                <a:cs typeface="Times New Roman" panose="02020603050405020304" pitchFamily="18" charset="0"/>
              </a:rPr>
              <a:t>Conclusion</a:t>
            </a:r>
            <a:endParaRPr dirty="0">
              <a:latin typeface="Times New Roman" panose="02020603050405020304" pitchFamily="18" charset="0"/>
              <a:cs typeface="Times New Roman" panose="02020603050405020304" pitchFamily="18" charset="0"/>
            </a:endParaRPr>
          </a:p>
        </p:txBody>
      </p:sp>
      <p:sp>
        <p:nvSpPr>
          <p:cNvPr id="206" name="Google Shape;206;p32"/>
          <p:cNvSpPr txBox="1">
            <a:spLocks noGrp="1"/>
          </p:cNvSpPr>
          <p:nvPr>
            <p:ph type="dt" idx="10"/>
          </p:nvPr>
        </p:nvSpPr>
        <p:spPr>
          <a:xfrm>
            <a:off x="457200" y="4767263"/>
            <a:ext cx="1090464" cy="27384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 dirty="0"/>
              <a:t>18-02-2026</a:t>
            </a:r>
            <a:endParaRPr dirty="0"/>
          </a:p>
        </p:txBody>
      </p:sp>
      <p:sp>
        <p:nvSpPr>
          <p:cNvPr id="207" name="Google Shape;207;p32"/>
          <p:cNvSpPr txBox="1">
            <a:spLocks noGrp="1"/>
          </p:cNvSpPr>
          <p:nvPr>
            <p:ph type="sldNum" idx="12"/>
          </p:nvPr>
        </p:nvSpPr>
        <p:spPr>
          <a:xfrm>
            <a:off x="7812360" y="4767263"/>
            <a:ext cx="874440"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
              <a:t>9</a:t>
            </a:fld>
            <a:endParaRPr/>
          </a:p>
        </p:txBody>
      </p:sp>
      <p:sp>
        <p:nvSpPr>
          <p:cNvPr id="208" name="Google Shape;208;p32"/>
          <p:cNvSpPr txBox="1">
            <a:spLocks noGrp="1"/>
          </p:cNvSpPr>
          <p:nvPr>
            <p:ph type="ftr" idx="11"/>
          </p:nvPr>
        </p:nvSpPr>
        <p:spPr>
          <a:xfrm>
            <a:off x="2371936" y="4770416"/>
            <a:ext cx="4400128" cy="27384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 dirty="0"/>
              <a:t>SVECW | Department of Artificial Intelligence| Seminar</a:t>
            </a:r>
            <a:endParaRPr dirty="0"/>
          </a:p>
        </p:txBody>
      </p:sp>
      <p:sp>
        <p:nvSpPr>
          <p:cNvPr id="4" name="Rectangle 2">
            <a:extLst>
              <a:ext uri="{FF2B5EF4-FFF2-40B4-BE49-F238E27FC236}">
                <a16:creationId xmlns:a16="http://schemas.microsoft.com/office/drawing/2014/main" id="{BB3D26D9-4BB9-05A4-2543-051DDCFD152E}"/>
              </a:ext>
            </a:extLst>
          </p:cNvPr>
          <p:cNvSpPr>
            <a:spLocks noGrp="1" noChangeArrowheads="1"/>
          </p:cNvSpPr>
          <p:nvPr>
            <p:ph type="body" idx="1"/>
          </p:nvPr>
        </p:nvSpPr>
        <p:spPr bwMode="auto">
          <a:xfrm>
            <a:off x="371910" y="621215"/>
            <a:ext cx="8040135" cy="3901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a comprehensive survey of Retrieval-Augmented Generation applications in educational environments.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Highlights the importance of grounding large language models in verified academic knowledge sources.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Demonstrates that RAG-based systems improve factual reliability and syllabus alignment in tutoring and assessment tasks.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Identifies personalization, adaptive learning, and automated grading as major application areas.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Emphasizes ongoing challenges related to retrieval optimization, scalability, and evaluation metrics.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Suggests that RAG will play a crucial role in building trustworthy and student-centered AI learning systems.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3"/>
          <p:cNvSpPr txBox="1">
            <a:spLocks noGrp="1"/>
          </p:cNvSpPr>
          <p:nvPr>
            <p:ph type="title"/>
          </p:nvPr>
        </p:nvSpPr>
        <p:spPr>
          <a:xfrm>
            <a:off x="432128" y="116324"/>
            <a:ext cx="7919700" cy="367500"/>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rgbClr val="C00000"/>
              </a:buClr>
              <a:buSzPct val="100000"/>
              <a:buFont typeface="Calibri"/>
              <a:buNone/>
            </a:pPr>
            <a:r>
              <a:rPr lang="en" sz="2000" dirty="0">
                <a:latin typeface="Times New Roman" panose="02020603050405020304" pitchFamily="18" charset="0"/>
                <a:cs typeface="Times New Roman" panose="02020603050405020304" pitchFamily="18" charset="0"/>
              </a:rPr>
              <a:t>References</a:t>
            </a:r>
            <a:endParaRPr sz="2000" dirty="0">
              <a:latin typeface="Times New Roman" panose="02020603050405020304" pitchFamily="18" charset="0"/>
              <a:cs typeface="Times New Roman" panose="02020603050405020304" pitchFamily="18" charset="0"/>
            </a:endParaRPr>
          </a:p>
        </p:txBody>
      </p:sp>
      <p:sp>
        <p:nvSpPr>
          <p:cNvPr id="215" name="Google Shape;215;p33"/>
          <p:cNvSpPr txBox="1">
            <a:spLocks noGrp="1"/>
          </p:cNvSpPr>
          <p:nvPr>
            <p:ph type="dt" idx="10"/>
          </p:nvPr>
        </p:nvSpPr>
        <p:spPr>
          <a:xfrm>
            <a:off x="457200" y="4767263"/>
            <a:ext cx="1090500" cy="2739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 sz="1100" dirty="0"/>
              <a:t>18-02-2026</a:t>
            </a:r>
            <a:endParaRPr sz="1100" dirty="0"/>
          </a:p>
        </p:txBody>
      </p:sp>
      <p:sp>
        <p:nvSpPr>
          <p:cNvPr id="216" name="Google Shape;216;p33"/>
          <p:cNvSpPr txBox="1">
            <a:spLocks noGrp="1"/>
          </p:cNvSpPr>
          <p:nvPr>
            <p:ph type="sldNum" idx="12"/>
          </p:nvPr>
        </p:nvSpPr>
        <p:spPr>
          <a:xfrm>
            <a:off x="7812360" y="4767263"/>
            <a:ext cx="8745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 sz="1100"/>
              <a:t>10</a:t>
            </a:fld>
            <a:endParaRPr sz="1100" dirty="0"/>
          </a:p>
        </p:txBody>
      </p:sp>
      <p:sp>
        <p:nvSpPr>
          <p:cNvPr id="217" name="Google Shape;217;p33"/>
          <p:cNvSpPr txBox="1">
            <a:spLocks noGrp="1"/>
          </p:cNvSpPr>
          <p:nvPr>
            <p:ph type="ftr" idx="11"/>
          </p:nvPr>
        </p:nvSpPr>
        <p:spPr>
          <a:xfrm>
            <a:off x="2371936" y="4770416"/>
            <a:ext cx="4400100" cy="2739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 sz="1100" dirty="0"/>
              <a:t>SVECW | Department of Artificial Intelligence| Seminar</a:t>
            </a:r>
            <a:endParaRPr sz="1100" dirty="0"/>
          </a:p>
        </p:txBody>
      </p:sp>
      <p:sp>
        <p:nvSpPr>
          <p:cNvPr id="3" name="Text Placeholder 2">
            <a:extLst>
              <a:ext uri="{FF2B5EF4-FFF2-40B4-BE49-F238E27FC236}">
                <a16:creationId xmlns:a16="http://schemas.microsoft.com/office/drawing/2014/main" id="{CEF14544-5708-B34C-B8AD-E1B9CDE0816A}"/>
              </a:ext>
            </a:extLst>
          </p:cNvPr>
          <p:cNvSpPr>
            <a:spLocks noGrp="1" noChangeArrowheads="1"/>
          </p:cNvSpPr>
          <p:nvPr>
            <p:ph type="body" idx="1"/>
          </p:nvPr>
        </p:nvSpPr>
        <p:spPr bwMode="auto">
          <a:xfrm>
            <a:off x="277813" y="611286"/>
            <a:ext cx="9052041" cy="4411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1200" dirty="0">
                <a:latin typeface="Times New Roman" panose="02020603050405020304" pitchFamily="18" charset="0"/>
                <a:cs typeface="Times New Roman" panose="02020603050405020304" pitchFamily="18" charset="0"/>
              </a:rPr>
              <a:t>[1] W. Shi, Y. Zhuang, Y. Zhu, H. J. Iwinski, J. M. Wattenbarger, and M. D. Wang,</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“Retrieval-Augmented Large Language Models for Adolescent Idiopathic Scoliosis Patients in Shared Decision-Making,”</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in </a:t>
            </a:r>
            <a:r>
              <a:rPr lang="en-IN" sz="1200" i="1" dirty="0">
                <a:latin typeface="Times New Roman" panose="02020603050405020304" pitchFamily="18" charset="0"/>
                <a:cs typeface="Times New Roman" panose="02020603050405020304" pitchFamily="18" charset="0"/>
              </a:rPr>
              <a:t>Proc. ACM Conf.</a:t>
            </a:r>
            <a:r>
              <a:rPr lang="en-IN" sz="1200" dirty="0">
                <a:latin typeface="Times New Roman" panose="02020603050405020304" pitchFamily="18" charset="0"/>
                <a:cs typeface="Times New Roman" panose="02020603050405020304" pitchFamily="18" charset="0"/>
              </a:rPr>
              <a:t>, 2023.</a:t>
            </a:r>
            <a:br>
              <a:rPr lang="en-IN" sz="1200" dirty="0">
                <a:latin typeface="Times New Roman" panose="02020603050405020304" pitchFamily="18" charset="0"/>
                <a:cs typeface="Times New Roman" panose="02020603050405020304" pitchFamily="18" charset="0"/>
              </a:rPr>
            </a:br>
            <a:r>
              <a:rPr lang="en-IN" sz="1200" dirty="0" err="1">
                <a:latin typeface="Times New Roman" panose="02020603050405020304" pitchFamily="18" charset="0"/>
                <a:cs typeface="Times New Roman" panose="02020603050405020304" pitchFamily="18" charset="0"/>
              </a:rPr>
              <a:t>doi</a:t>
            </a: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10.1145/3584371.3612956</a:t>
            </a:r>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[2] P. Lewis, E. Perez, A. </a:t>
            </a:r>
            <a:r>
              <a:rPr lang="en-IN" sz="1200" dirty="0" err="1">
                <a:latin typeface="Times New Roman" panose="02020603050405020304" pitchFamily="18" charset="0"/>
                <a:cs typeface="Times New Roman" panose="02020603050405020304" pitchFamily="18" charset="0"/>
              </a:rPr>
              <a:t>Piktus</a:t>
            </a:r>
            <a:r>
              <a:rPr lang="en-IN" sz="1200" dirty="0">
                <a:latin typeface="Times New Roman" panose="02020603050405020304" pitchFamily="18" charset="0"/>
                <a:cs typeface="Times New Roman" panose="02020603050405020304" pitchFamily="18" charset="0"/>
              </a:rPr>
              <a:t>, et al.,</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“Retrieval-Augmented Generation for Knowledge-Intensive NLP Tasks,”</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in </a:t>
            </a:r>
            <a:r>
              <a:rPr lang="en-IN" sz="1200" i="1" dirty="0">
                <a:latin typeface="Times New Roman" panose="02020603050405020304" pitchFamily="18" charset="0"/>
                <a:cs typeface="Times New Roman" panose="02020603050405020304" pitchFamily="18" charset="0"/>
              </a:rPr>
              <a:t>Advances in Neural Information Processing Systems (</a:t>
            </a:r>
            <a:r>
              <a:rPr lang="en-IN" sz="1200" i="1" dirty="0" err="1">
                <a:latin typeface="Times New Roman" panose="02020603050405020304" pitchFamily="18" charset="0"/>
                <a:cs typeface="Times New Roman" panose="02020603050405020304" pitchFamily="18" charset="0"/>
              </a:rPr>
              <a:t>NeurIPS</a:t>
            </a:r>
            <a:r>
              <a:rPr lang="en-IN" sz="1200" i="1" dirty="0">
                <a:latin typeface="Times New Roman" panose="02020603050405020304" pitchFamily="18" charset="0"/>
                <a:cs typeface="Times New Roman" panose="02020603050405020304" pitchFamily="18" charset="0"/>
              </a:rPr>
              <a:t>)</a:t>
            </a:r>
            <a:r>
              <a:rPr lang="en-IN" sz="1200" dirty="0">
                <a:latin typeface="Times New Roman" panose="02020603050405020304" pitchFamily="18" charset="0"/>
                <a:cs typeface="Times New Roman" panose="02020603050405020304" pitchFamily="18" charset="0"/>
              </a:rPr>
              <a:t>, vol. 33, pp. 9459–9474, 2020.</a:t>
            </a:r>
            <a:br>
              <a:rPr lang="en-IN" sz="1200" dirty="0">
                <a:latin typeface="Times New Roman" panose="02020603050405020304" pitchFamily="18" charset="0"/>
                <a:cs typeface="Times New Roman" panose="02020603050405020304" pitchFamily="18" charset="0"/>
              </a:rPr>
            </a:br>
            <a:r>
              <a:rPr lang="en-IN" sz="1200" dirty="0" err="1">
                <a:latin typeface="Times New Roman" panose="02020603050405020304" pitchFamily="18" charset="0"/>
                <a:cs typeface="Times New Roman" panose="02020603050405020304" pitchFamily="18" charset="0"/>
              </a:rPr>
              <a:t>doi</a:t>
            </a: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10.5555/3495724.3496517</a:t>
            </a:r>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[3] </a:t>
            </a:r>
            <a:r>
              <a:rPr lang="en-IN" sz="1200" b="1" dirty="0">
                <a:latin typeface="Times New Roman" panose="02020603050405020304" pitchFamily="18" charset="0"/>
                <a:cs typeface="Times New Roman" panose="02020603050405020304" pitchFamily="18" charset="0"/>
              </a:rPr>
              <a:t>Z. Li, Z. Wang, W. Wang, K. Hung, H. Xie, and F.-L. Wang</a:t>
            </a:r>
            <a:r>
              <a:rPr lang="en-IN" sz="1200" dirty="0">
                <a:latin typeface="Times New Roman" panose="02020603050405020304" pitchFamily="18" charset="0"/>
                <a:cs typeface="Times New Roman" panose="02020603050405020304" pitchFamily="18" charset="0"/>
              </a:rPr>
              <a:t>,</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“Retrieval-Augmented Generation for Educational Applications: A Systematic Survey,”</a:t>
            </a:r>
            <a:br>
              <a:rPr lang="en-IN" sz="1200" dirty="0">
                <a:latin typeface="Times New Roman" panose="02020603050405020304" pitchFamily="18" charset="0"/>
                <a:cs typeface="Times New Roman" panose="02020603050405020304" pitchFamily="18" charset="0"/>
              </a:rPr>
            </a:br>
            <a:r>
              <a:rPr lang="en-IN" sz="1200" i="1" dirty="0">
                <a:latin typeface="Times New Roman" panose="02020603050405020304" pitchFamily="18" charset="0"/>
                <a:cs typeface="Times New Roman" panose="02020603050405020304" pitchFamily="18" charset="0"/>
              </a:rPr>
              <a:t>Computers and Education: Artificial Intelligence</a:t>
            </a:r>
            <a:r>
              <a:rPr lang="en-IN" sz="1200" dirty="0">
                <a:latin typeface="Times New Roman" panose="02020603050405020304" pitchFamily="18" charset="0"/>
                <a:cs typeface="Times New Roman" panose="02020603050405020304" pitchFamily="18" charset="0"/>
              </a:rPr>
              <a:t>, vol. 8, 100417, 2025.</a:t>
            </a:r>
            <a:br>
              <a:rPr lang="en-IN" sz="1200" dirty="0">
                <a:latin typeface="Times New Roman" panose="02020603050405020304" pitchFamily="18" charset="0"/>
                <a:cs typeface="Times New Roman" panose="02020603050405020304" pitchFamily="18" charset="0"/>
              </a:rPr>
            </a:br>
            <a:r>
              <a:rPr lang="en-IN" sz="1200" dirty="0" err="1">
                <a:latin typeface="Times New Roman" panose="02020603050405020304" pitchFamily="18" charset="0"/>
                <a:cs typeface="Times New Roman" panose="02020603050405020304" pitchFamily="18" charset="0"/>
              </a:rPr>
              <a:t>doi</a:t>
            </a: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hlinkClick r:id="rId3"/>
              </a:rPr>
              <a:t>10.1016/j.caeai.2025.100417</a:t>
            </a:r>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[4] Y. Chu, P. He, H. Li, H. Han, K. Yang, Y. Xue, J. Krajcik, and J. Tang,</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“Enhancing LLM-Based Short Answer Grading with Retrieval-Augmented Generation,”</a:t>
            </a:r>
            <a:br>
              <a:rPr lang="en-IN" sz="1200" dirty="0">
                <a:latin typeface="Times New Roman" panose="02020603050405020304" pitchFamily="18" charset="0"/>
                <a:cs typeface="Times New Roman" panose="02020603050405020304" pitchFamily="18" charset="0"/>
              </a:rPr>
            </a:br>
            <a:r>
              <a:rPr lang="en-IN" sz="1200" i="1" dirty="0" err="1">
                <a:latin typeface="Times New Roman" panose="02020603050405020304" pitchFamily="18" charset="0"/>
                <a:cs typeface="Times New Roman" panose="02020603050405020304" pitchFamily="18" charset="0"/>
              </a:rPr>
              <a:t>arXiv</a:t>
            </a:r>
            <a:r>
              <a:rPr lang="en-IN" sz="1200" i="1" dirty="0">
                <a:latin typeface="Times New Roman" panose="02020603050405020304" pitchFamily="18" charset="0"/>
                <a:cs typeface="Times New Roman" panose="02020603050405020304" pitchFamily="18" charset="0"/>
              </a:rPr>
              <a:t> preprint</a:t>
            </a:r>
            <a:r>
              <a:rPr lang="en-IN" sz="1200" dirty="0">
                <a:latin typeface="Times New Roman" panose="02020603050405020304" pitchFamily="18" charset="0"/>
                <a:cs typeface="Times New Roman" panose="02020603050405020304" pitchFamily="18" charset="0"/>
              </a:rPr>
              <a:t>, 2025.</a:t>
            </a:r>
            <a:br>
              <a:rPr lang="en-IN" sz="1200" dirty="0">
                <a:latin typeface="Times New Roman" panose="02020603050405020304" pitchFamily="18" charset="0"/>
                <a:cs typeface="Times New Roman" panose="02020603050405020304" pitchFamily="18" charset="0"/>
              </a:rPr>
            </a:br>
            <a:r>
              <a:rPr lang="en-IN" sz="1200" dirty="0" err="1">
                <a:latin typeface="Times New Roman" panose="02020603050405020304" pitchFamily="18" charset="0"/>
                <a:cs typeface="Times New Roman" panose="02020603050405020304" pitchFamily="18" charset="0"/>
              </a:rPr>
              <a:t>doi</a:t>
            </a: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10.48550/arXiv.2504.05276</a:t>
            </a:r>
            <a:endParaRPr lang="en-IN" sz="1200"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[5] Y. Chen and H. Li,</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“Personalized Intelligent Tutoring Systems Based on Student Performance Analysis,”</a:t>
            </a:r>
            <a:br>
              <a:rPr lang="en-IN" sz="1200" dirty="0">
                <a:latin typeface="Times New Roman" panose="02020603050405020304" pitchFamily="18" charset="0"/>
                <a:cs typeface="Times New Roman" panose="02020603050405020304" pitchFamily="18" charset="0"/>
              </a:rPr>
            </a:br>
            <a:r>
              <a:rPr lang="en-IN" sz="1200" i="1" dirty="0">
                <a:latin typeface="Times New Roman" panose="02020603050405020304" pitchFamily="18" charset="0"/>
                <a:cs typeface="Times New Roman" panose="02020603050405020304" pitchFamily="18" charset="0"/>
              </a:rPr>
              <a:t>IEEE Transactions on Learning Technologies</a:t>
            </a:r>
            <a:r>
              <a:rPr lang="en-IN" sz="1200" dirty="0">
                <a:latin typeface="Times New Roman" panose="02020603050405020304" pitchFamily="18" charset="0"/>
                <a:cs typeface="Times New Roman" panose="02020603050405020304" pitchFamily="18" charset="0"/>
              </a:rPr>
              <a:t>, vol. 14, no. 4, pp. 489–502, 2021.</a:t>
            </a:r>
            <a:br>
              <a:rPr lang="en-IN" sz="1200" dirty="0">
                <a:latin typeface="Times New Roman" panose="02020603050405020304" pitchFamily="18" charset="0"/>
                <a:cs typeface="Times New Roman" panose="02020603050405020304" pitchFamily="18" charset="0"/>
              </a:rPr>
            </a:br>
            <a:r>
              <a:rPr lang="en-IN" sz="1200" dirty="0" err="1">
                <a:latin typeface="Times New Roman" panose="02020603050405020304" pitchFamily="18" charset="0"/>
                <a:cs typeface="Times New Roman" panose="02020603050405020304" pitchFamily="18" charset="0"/>
              </a:rPr>
              <a:t>doi</a:t>
            </a:r>
            <a:r>
              <a:rPr lang="en-IN" sz="1200" dirty="0">
                <a:latin typeface="Times New Roman" panose="02020603050405020304" pitchFamily="18" charset="0"/>
                <a:cs typeface="Times New Roman" panose="02020603050405020304" pitchFamily="18" charset="0"/>
              </a:rPr>
              <a:t>: </a:t>
            </a:r>
            <a:r>
              <a:rPr lang="en-IN" sz="1200" b="1" dirty="0">
                <a:latin typeface="Times New Roman" panose="02020603050405020304" pitchFamily="18" charset="0"/>
                <a:cs typeface="Times New Roman" panose="02020603050405020304" pitchFamily="18" charset="0"/>
              </a:rPr>
              <a:t>10.1109/TLT.2021.3078532</a:t>
            </a:r>
            <a:br>
              <a:rPr lang="en-IN" sz="1200" dirty="0">
                <a:latin typeface="Times New Roman" panose="02020603050405020304" pitchFamily="18" charset="0"/>
                <a:cs typeface="Times New Roman" panose="02020603050405020304" pitchFamily="18" charset="0"/>
              </a:rPr>
            </a:br>
            <a:endParaRPr lang="en-IN" sz="1200" dirty="0">
              <a:latin typeface="Times New Roman" panose="02020603050405020304" pitchFamily="18" charset="0"/>
              <a:cs typeface="Times New Roman" panose="02020603050405020304" pitchFamily="18" charset="0"/>
            </a:endParaRPr>
          </a:p>
          <a:p>
            <a:pPr marL="0" marR="0" lvl="0" indent="0" defTabSz="914400" rtl="0" eaLnBrk="0" fontAlgn="base" latinLnBrk="0" hangingPunct="0">
              <a:lnSpc>
                <a:spcPct val="100000"/>
              </a:lnSpc>
              <a:spcBef>
                <a:spcPct val="0"/>
              </a:spcBef>
              <a:spcAft>
                <a:spcPct val="0"/>
              </a:spcAft>
              <a:buClrTx/>
              <a:buSzTx/>
              <a:buNone/>
              <a:tabLst/>
            </a:pPr>
            <a:endPar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34"/>
          <p:cNvSpPr txBox="1">
            <a:spLocks noGrp="1"/>
          </p:cNvSpPr>
          <p:nvPr>
            <p:ph type="dt" idx="10"/>
          </p:nvPr>
        </p:nvSpPr>
        <p:spPr>
          <a:xfrm>
            <a:off x="457200" y="4767263"/>
            <a:ext cx="946448" cy="27384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 dirty="0"/>
              <a:t>18-02-2026</a:t>
            </a:r>
            <a:endParaRPr dirty="0"/>
          </a:p>
        </p:txBody>
      </p:sp>
      <p:sp>
        <p:nvSpPr>
          <p:cNvPr id="223" name="Google Shape;223;p34"/>
          <p:cNvSpPr txBox="1">
            <a:spLocks noGrp="1"/>
          </p:cNvSpPr>
          <p:nvPr>
            <p:ph type="sldNum" idx="12"/>
          </p:nvPr>
        </p:nvSpPr>
        <p:spPr>
          <a:xfrm>
            <a:off x="8172400" y="4767263"/>
            <a:ext cx="514400" cy="27384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
              <a:t>11</a:t>
            </a:fld>
            <a:endParaRPr/>
          </a:p>
        </p:txBody>
      </p:sp>
      <p:sp>
        <p:nvSpPr>
          <p:cNvPr id="224" name="Google Shape;224;p34"/>
          <p:cNvSpPr txBox="1">
            <a:spLocks noGrp="1"/>
          </p:cNvSpPr>
          <p:nvPr>
            <p:ph type="ftr" idx="11"/>
          </p:nvPr>
        </p:nvSpPr>
        <p:spPr>
          <a:xfrm>
            <a:off x="2483768" y="4767263"/>
            <a:ext cx="4400128" cy="27384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 dirty="0"/>
              <a:t>SVECW | Department of Artificial Intelligence| Seminar</a:t>
            </a:r>
            <a:endParaRPr dirty="0"/>
          </a:p>
        </p:txBody>
      </p:sp>
      <p:sp>
        <p:nvSpPr>
          <p:cNvPr id="225" name="Google Shape;225;p34"/>
          <p:cNvSpPr txBox="1"/>
          <p:nvPr/>
        </p:nvSpPr>
        <p:spPr>
          <a:xfrm>
            <a:off x="1981200" y="1828800"/>
            <a:ext cx="5181600" cy="13233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8000" dirty="0">
                <a:solidFill>
                  <a:schemeClr val="dk1"/>
                </a:solidFill>
                <a:latin typeface="Times New Roman" panose="02020603050405020304" pitchFamily="18" charset="0"/>
                <a:ea typeface="Calibri"/>
                <a:cs typeface="Times New Roman" panose="02020603050405020304" pitchFamily="18" charset="0"/>
                <a:sym typeface="Calibri"/>
              </a:rPr>
              <a:t>Thank you</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240</TotalTime>
  <Words>1445</Words>
  <Application>Microsoft Office PowerPoint</Application>
  <PresentationFormat>On-screen Show (16:9)</PresentationFormat>
  <Paragraphs>109</Paragraphs>
  <Slides>11</Slides>
  <Notes>11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11</vt:i4>
      </vt:variant>
    </vt:vector>
  </HeadingPairs>
  <TitlesOfParts>
    <vt:vector size="18" baseType="lpstr">
      <vt:lpstr>Arial</vt:lpstr>
      <vt:lpstr>Calibri</vt:lpstr>
      <vt:lpstr>Noto Sans Symbols</vt:lpstr>
      <vt:lpstr>Times New Roman</vt:lpstr>
      <vt:lpstr>Wingdings</vt:lpstr>
      <vt:lpstr>Simple Light</vt:lpstr>
      <vt:lpstr>Office Theme</vt:lpstr>
      <vt:lpstr>Retrieval-Augmented Generation for Educational Applications: A Systematic Survey</vt:lpstr>
      <vt:lpstr>Introduction</vt:lpstr>
      <vt:lpstr>Literature Survey</vt:lpstr>
      <vt:lpstr>Dataset Collection</vt:lpstr>
      <vt:lpstr>Methodology</vt:lpstr>
      <vt:lpstr>Methodology</vt:lpstr>
      <vt:lpstr>Workflow diagram</vt:lpstr>
      <vt:lpstr>Results</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Sravya</dc:creator>
  <cp:lastModifiedBy>Eesalini B</cp:lastModifiedBy>
  <cp:revision>13</cp:revision>
  <dcterms:modified xsi:type="dcterms:W3CDTF">2026-02-18T06:11:05Z</dcterms:modified>
</cp:coreProperties>
</file>